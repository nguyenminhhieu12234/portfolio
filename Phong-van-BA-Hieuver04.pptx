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iKoVlxh2MHrpVy1yPu/17z66RX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Chào hỏi ngắn gọn, tự tin. Giới thiệu tên, vai trò hiện tại, số năm kinh nghiệm, và một câu định vị: '4 năm làm cầu nối giữa business user và hệ thống, giờ muốn chính thức bước sang vai trò đó.'</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Nói ngắn gọn, đừng sa đà kỹ thuật. Ý chính: đây là hệ thống phức tạp, nhiều bên liên quan, nhiều thế hệ code — cho thấy đã quen làm việc trong môi trường legacy nhiều ràng buộc, không phải chỉ code dự án sạch từ đầu.</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Nhấn mạnh: đây chính là một quy trình BA thu nhỏ, chỉ là chưa gọi tên theo thuật ngữ chuẩn. Nhắc đến việc đang chủ động học BA 17 bước và áp dụng vào task thực tế để chuẩn hóa.</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case study chính, thể hiện rõ nhất kỹ năng BA: user không nói thẳng giải pháp, mình phải suy luận ra nhu cầu thật. Nhấn vào bước 'phân tích &amp; làm rõ' và 'thu thập thông tin' — đó là elicitation thật sự. Điền cụ thể tên bộ phận liên quan và kết quả trước khi trình bày.</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b99eca1a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b99eca1a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8b99eca1a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Case này thiên về kỹ thuật hơn — khi kể, đừng nhấn vào phần 'tuning query', mà nhấn vào bước hỏi lại user để làm rõ vấn đề trước khi đụng vào kỹ thuật. Đây là case phụ, bổ sung cho case 1.</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slide 'bán mình'. Nói chậm, rõ từng ý — đây là điểm khác biệt so với ứng viên BA thuần không có nền tảng kỹ thuật.</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Nếu bị hỏi về việc chưa có BRD/FSD chuẩn hay test case chuẩn: đừng né, trả lời thẳng là chưa làm theo khuôn mẫu viết sẵn nhưng đã làm đúng bản chất công việc, và đang chủ động học để chuẩn hóa.</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9692640" y="-1463040"/>
            <a:ext cx="5029200" cy="5029200"/>
          </a:xfrm>
          <a:prstGeom prst="ellipse">
            <a:avLst/>
          </a:prstGeom>
          <a:solidFill>
            <a:srgbClr val="2631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0789920" y="4937760"/>
            <a:ext cx="2926080" cy="2926080"/>
          </a:xfrm>
          <a:prstGeom prst="ellipse">
            <a:avLst/>
          </a:prstGeom>
          <a:solidFill>
            <a:srgbClr val="2631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txBox="1"/>
          <p:nvPr/>
        </p:nvSpPr>
        <p:spPr>
          <a:xfrm>
            <a:off x="731520" y="141732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PHỎNG VẤN IT BUSINESS ANALYST</a:t>
            </a:r>
            <a:endParaRPr b="0" i="0" sz="1400" u="none" cap="none" strike="noStrike">
              <a:solidFill>
                <a:schemeClr val="dk1"/>
              </a:solidFill>
              <a:latin typeface="Calibri"/>
              <a:ea typeface="Calibri"/>
              <a:cs typeface="Calibri"/>
              <a:sym typeface="Calibri"/>
            </a:endParaRPr>
          </a:p>
        </p:txBody>
      </p:sp>
      <p:sp>
        <p:nvSpPr>
          <p:cNvPr id="19" name="Google Shape;19;p1"/>
          <p:cNvSpPr txBox="1"/>
          <p:nvPr/>
        </p:nvSpPr>
        <p:spPr>
          <a:xfrm>
            <a:off x="731520" y="187452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Nguyễn Minh Hiếu</a:t>
            </a:r>
            <a:endParaRPr b="0" i="0" sz="4400" u="none" cap="none" strike="noStrike">
              <a:solidFill>
                <a:schemeClr val="dk1"/>
              </a:solidFill>
              <a:latin typeface="Calibri"/>
              <a:ea typeface="Calibri"/>
              <a:cs typeface="Calibri"/>
              <a:sym typeface="Calibri"/>
            </a:endParaRPr>
          </a:p>
        </p:txBody>
      </p:sp>
      <p:sp>
        <p:nvSpPr>
          <p:cNvPr id="20" name="Google Shape;20;p1"/>
          <p:cNvSpPr txBox="1"/>
          <p:nvPr/>
        </p:nvSpPr>
        <p:spPr>
          <a:xfrm>
            <a:off x="731520" y="283464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Từ IT Dev Fullstack đến IT Business Analyst</a:t>
            </a:r>
            <a:endParaRPr b="0" i="0" sz="1800" u="none" cap="none" strike="noStrike">
              <a:solidFill>
                <a:schemeClr val="dk1"/>
              </a:solidFill>
              <a:latin typeface="Calibri"/>
              <a:ea typeface="Calibri"/>
              <a:cs typeface="Calibri"/>
              <a:sym typeface="Calibri"/>
            </a:endParaRPr>
          </a:p>
        </p:txBody>
      </p:sp>
      <p:cxnSp>
        <p:nvCxnSpPr>
          <p:cNvPr id="21" name="Google Shape;21;p1"/>
          <p:cNvCxnSpPr/>
          <p:nvPr/>
        </p:nvCxnSpPr>
        <p:spPr>
          <a:xfrm>
            <a:off x="731520" y="3520440"/>
            <a:ext cx="2926080" cy="0"/>
          </a:xfrm>
          <a:prstGeom prst="straightConnector1">
            <a:avLst/>
          </a:prstGeom>
          <a:noFill/>
          <a:ln cap="flat" cmpd="sng" w="25400">
            <a:solidFill>
              <a:srgbClr val="3D5AFE"/>
            </a:solidFill>
            <a:prstDash val="solid"/>
            <a:round/>
            <a:headEnd len="sm" w="sm" type="none"/>
            <a:tailEnd len="sm" w="sm" type="none"/>
          </a:ln>
        </p:spPr>
      </p:cxnSp>
      <p:sp>
        <p:nvSpPr>
          <p:cNvPr id="22" name="Google Shape;22;p1"/>
          <p:cNvSpPr txBox="1"/>
          <p:nvPr/>
        </p:nvSpPr>
        <p:spPr>
          <a:xfrm>
            <a:off x="731520" y="3794760"/>
            <a:ext cx="804672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 năm </a:t>
            </a:r>
            <a:r>
              <a:rPr b="0" i="0" lang="en-US" sz="1400" u="none" cap="none" strike="noStrike">
                <a:solidFill>
                  <a:srgbClr val="CADCFC"/>
                </a:solidFill>
                <a:latin typeface="Calibri"/>
                <a:ea typeface="Calibri"/>
                <a:cs typeface="Calibri"/>
                <a:sym typeface="Calibri"/>
              </a:rPr>
              <a:t>kinh nghiệm IT Dev Fullstack, support hệ thống nhân sự (Java web legacy) tại một tập đoàn đa quốc gia — phần lớn thời gian dành cho việc phân tích yêu cầu và làm việc trực tiếp với user.</a:t>
            </a:r>
            <a:endParaRPr b="0" i="0" sz="1400" u="none" cap="none" strike="noStrike">
              <a:solidFill>
                <a:schemeClr val="dk1"/>
              </a:solidFill>
              <a:latin typeface="Calibri"/>
              <a:ea typeface="Calibri"/>
              <a:cs typeface="Calibri"/>
              <a:sym typeface="Calibri"/>
            </a:endParaRPr>
          </a:p>
        </p:txBody>
      </p:sp>
      <p:sp>
        <p:nvSpPr>
          <p:cNvPr id="23" name="Google Shape;23;p1"/>
          <p:cNvSpPr txBox="1"/>
          <p:nvPr/>
        </p:nvSpPr>
        <p:spPr>
          <a:xfrm>
            <a:off x="731520" y="598932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8"/>
              </a:buClr>
              <a:buSzPts val="1200"/>
              <a:buFont typeface="Calibri"/>
              <a:buNone/>
            </a:pPr>
            <a:r>
              <a:rPr b="0" i="0" lang="en-US" sz="1200" u="none" cap="none" strike="noStrike">
                <a:solidFill>
                  <a:srgbClr val="5B6478"/>
                </a:solidFill>
                <a:latin typeface="Calibri"/>
                <a:ea typeface="Calibri"/>
                <a:cs typeface="Calibri"/>
                <a:sym typeface="Calibri"/>
              </a:rPr>
              <a:t>Ứng tuyển vị trí IT Business Analyst — C.P Việt Nam  |  [Ngày phỏng vấn]</a:t>
            </a:r>
            <a:endParaRPr b="0" i="0" sz="1200" u="none" cap="none" strike="noStrike">
              <a:solidFill>
                <a:schemeClr val="dk1"/>
              </a:solidFill>
              <a:latin typeface="Calibri"/>
              <a:ea typeface="Calibri"/>
              <a:cs typeface="Calibri"/>
              <a:sym typeface="Calibri"/>
            </a:endParaRPr>
          </a:p>
        </p:txBody>
      </p:sp>
      <p:sp>
        <p:nvSpPr>
          <p:cNvPr id="24" name="Google Shape;24;p1"/>
          <p:cNvSpPr/>
          <p:nvPr/>
        </p:nvSpPr>
        <p:spPr>
          <a:xfrm>
            <a:off x="11475720" y="644652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b="0" i="0" lang="en-US" sz="1000" u="none" cap="none" strike="noStrike">
                <a:solidFill>
                  <a:srgbClr val="5B6478"/>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txBox="1"/>
          <p:nvPr/>
        </p:nvSpPr>
        <p:spPr>
          <a:xfrm>
            <a:off x="548640" y="41148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3000"/>
              <a:buFont typeface="Cambria"/>
              <a:buNone/>
            </a:pPr>
            <a:r>
              <a:rPr b="1" i="0" lang="en-US" sz="3000" u="none" cap="none" strike="noStrike">
                <a:solidFill>
                  <a:srgbClr val="222833"/>
                </a:solidFill>
                <a:latin typeface="Cambria"/>
                <a:ea typeface="Cambria"/>
                <a:cs typeface="Cambria"/>
                <a:sym typeface="Cambria"/>
              </a:rPr>
              <a:t>Bối cảnh: hệ thống em đang support</a:t>
            </a:r>
            <a:endParaRPr b="0" i="0" sz="3000" u="none" cap="none" strike="noStrike">
              <a:solidFill>
                <a:schemeClr val="dk1"/>
              </a:solidFill>
              <a:latin typeface="Calibri"/>
              <a:ea typeface="Calibri"/>
              <a:cs typeface="Calibri"/>
              <a:sym typeface="Calibri"/>
            </a:endParaRPr>
          </a:p>
        </p:txBody>
      </p:sp>
      <p:sp>
        <p:nvSpPr>
          <p:cNvPr id="31" name="Google Shape;31;p2"/>
          <p:cNvSpPr txBox="1"/>
          <p:nvPr/>
        </p:nvSpPr>
        <p:spPr>
          <a:xfrm>
            <a:off x="548640" y="10515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8"/>
              </a:buClr>
              <a:buSzPts val="1400"/>
              <a:buFont typeface="Calibri"/>
              <a:buNone/>
            </a:pPr>
            <a:r>
              <a:rPr b="0" i="0" lang="en-US" sz="1400" u="none" cap="none" strike="noStrike">
                <a:solidFill>
                  <a:srgbClr val="5B6478"/>
                </a:solidFill>
                <a:latin typeface="Calibri"/>
                <a:ea typeface="Calibri"/>
                <a:cs typeface="Calibri"/>
                <a:sym typeface="Calibri"/>
              </a:rPr>
              <a:t>Hệ thống nhân sự quy mô lớn, phát triển liên tục từ 2012 — em tham gia support từ 2022</a:t>
            </a:r>
            <a:endParaRPr b="0" i="0" sz="1400" u="none" cap="none" strike="noStrike">
              <a:solidFill>
                <a:schemeClr val="dk1"/>
              </a:solidFill>
              <a:latin typeface="Calibri"/>
              <a:ea typeface="Calibri"/>
              <a:cs typeface="Calibri"/>
              <a:sym typeface="Calibri"/>
            </a:endParaRPr>
          </a:p>
        </p:txBody>
      </p:sp>
      <p:sp>
        <p:nvSpPr>
          <p:cNvPr id="32" name="Google Shape;32;p2"/>
          <p:cNvSpPr/>
          <p:nvPr/>
        </p:nvSpPr>
        <p:spPr>
          <a:xfrm>
            <a:off x="548640" y="1874520"/>
            <a:ext cx="5212080" cy="1965960"/>
          </a:xfrm>
          <a:prstGeom prst="roundRect">
            <a:avLst>
              <a:gd fmla="val 372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822960" y="2148840"/>
            <a:ext cx="548640" cy="54864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txBox="1"/>
          <p:nvPr/>
        </p:nvSpPr>
        <p:spPr>
          <a:xfrm>
            <a:off x="822960" y="214884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60"/>
              <a:buFont typeface="Calibri"/>
              <a:buNone/>
            </a:pPr>
            <a:r>
              <a:rPr b="1" i="0" lang="en-US" sz="1560" u="none" cap="none" strike="noStrike">
                <a:solidFill>
                  <a:srgbClr val="1E2761"/>
                </a:solidFill>
                <a:latin typeface="Calibri"/>
                <a:ea typeface="Calibri"/>
                <a:cs typeface="Calibri"/>
                <a:sym typeface="Calibri"/>
              </a:rPr>
              <a:t>⏱</a:t>
            </a:r>
            <a:endParaRPr b="0" i="0" sz="1560" u="none" cap="none" strike="noStrike">
              <a:solidFill>
                <a:schemeClr val="dk1"/>
              </a:solidFill>
              <a:latin typeface="Calibri"/>
              <a:ea typeface="Calibri"/>
              <a:cs typeface="Calibri"/>
              <a:sym typeface="Calibri"/>
            </a:endParaRPr>
          </a:p>
        </p:txBody>
      </p:sp>
      <p:sp>
        <p:nvSpPr>
          <p:cNvPr id="35" name="Google Shape;35;p2"/>
          <p:cNvSpPr txBox="1"/>
          <p:nvPr/>
        </p:nvSpPr>
        <p:spPr>
          <a:xfrm>
            <a:off x="1554480" y="2130552"/>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10+ năm phát triển</a:t>
            </a:r>
            <a:endParaRPr b="0" i="0" sz="1500" u="none" cap="none" strike="noStrike">
              <a:solidFill>
                <a:schemeClr val="dk1"/>
              </a:solidFill>
              <a:latin typeface="Calibri"/>
              <a:ea typeface="Calibri"/>
              <a:cs typeface="Calibri"/>
              <a:sym typeface="Calibri"/>
            </a:endParaRPr>
          </a:p>
        </p:txBody>
      </p:sp>
      <p:sp>
        <p:nvSpPr>
          <p:cNvPr id="36" name="Google Shape;36;p2"/>
          <p:cNvSpPr txBox="1"/>
          <p:nvPr/>
        </p:nvSpPr>
        <p:spPr>
          <a:xfrm>
            <a:off x="822960" y="2788920"/>
            <a:ext cx="466344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Xây dựng và mở rộng liên tục từ 2012 đến nay, nhiều thế hệ code và nghiệp vụ chồng lấp.</a:t>
            </a:r>
            <a:endParaRPr b="0" i="0" sz="1250" u="none" cap="none" strike="noStrike">
              <a:solidFill>
                <a:schemeClr val="dk1"/>
              </a:solidFill>
              <a:latin typeface="Calibri"/>
              <a:ea typeface="Calibri"/>
              <a:cs typeface="Calibri"/>
              <a:sym typeface="Calibri"/>
            </a:endParaRPr>
          </a:p>
        </p:txBody>
      </p:sp>
      <p:sp>
        <p:nvSpPr>
          <p:cNvPr id="37" name="Google Shape;37;p2"/>
          <p:cNvSpPr/>
          <p:nvPr/>
        </p:nvSpPr>
        <p:spPr>
          <a:xfrm>
            <a:off x="6080760" y="1874520"/>
            <a:ext cx="5212080" cy="1965960"/>
          </a:xfrm>
          <a:prstGeom prst="roundRect">
            <a:avLst>
              <a:gd fmla="val 372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355080" y="2148840"/>
            <a:ext cx="548640" cy="54864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nvSpPr>
        <p:spPr>
          <a:xfrm>
            <a:off x="6355080" y="214884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60"/>
              <a:buFont typeface="Calibri"/>
              <a:buNone/>
            </a:pPr>
            <a:r>
              <a:rPr b="1" i="0" lang="en-US" sz="1560" u="none" cap="none" strike="noStrike">
                <a:solidFill>
                  <a:srgbClr val="1E2761"/>
                </a:solidFill>
                <a:latin typeface="Calibri"/>
                <a:ea typeface="Calibri"/>
                <a:cs typeface="Calibri"/>
                <a:sym typeface="Calibri"/>
              </a:rPr>
              <a:t>🏢</a:t>
            </a:r>
            <a:endParaRPr b="0" i="0" sz="1560" u="none" cap="none" strike="noStrike">
              <a:solidFill>
                <a:schemeClr val="dk1"/>
              </a:solidFill>
              <a:latin typeface="Calibri"/>
              <a:ea typeface="Calibri"/>
              <a:cs typeface="Calibri"/>
              <a:sym typeface="Calibri"/>
            </a:endParaRPr>
          </a:p>
        </p:txBody>
      </p:sp>
      <p:sp>
        <p:nvSpPr>
          <p:cNvPr id="40" name="Google Shape;40;p2"/>
          <p:cNvSpPr txBox="1"/>
          <p:nvPr/>
        </p:nvSpPr>
        <p:spPr>
          <a:xfrm>
            <a:off x="7086600" y="2130552"/>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Quy mô tập đoàn đa quốc gia</a:t>
            </a:r>
            <a:endParaRPr b="0" i="0" sz="1500" u="none" cap="none" strike="noStrike">
              <a:solidFill>
                <a:schemeClr val="dk1"/>
              </a:solidFill>
              <a:latin typeface="Calibri"/>
              <a:ea typeface="Calibri"/>
              <a:cs typeface="Calibri"/>
              <a:sym typeface="Calibri"/>
            </a:endParaRPr>
          </a:p>
        </p:txBody>
      </p:sp>
      <p:sp>
        <p:nvSpPr>
          <p:cNvPr id="41" name="Google Shape;41;p2"/>
          <p:cNvSpPr txBox="1"/>
          <p:nvPr/>
        </p:nvSpPr>
        <p:spPr>
          <a:xfrm>
            <a:off x="6355080" y="2788920"/>
            <a:ext cx="466344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Phục vụ nhiều phòng ban, nhà máy, nhiều nhóm user với nhu cầu khác nhau.</a:t>
            </a:r>
            <a:endParaRPr b="0" i="0" sz="1250" u="none" cap="none" strike="noStrike">
              <a:solidFill>
                <a:schemeClr val="dk1"/>
              </a:solidFill>
              <a:latin typeface="Calibri"/>
              <a:ea typeface="Calibri"/>
              <a:cs typeface="Calibri"/>
              <a:sym typeface="Calibri"/>
            </a:endParaRPr>
          </a:p>
        </p:txBody>
      </p:sp>
      <p:sp>
        <p:nvSpPr>
          <p:cNvPr id="42" name="Google Shape;42;p2"/>
          <p:cNvSpPr/>
          <p:nvPr/>
        </p:nvSpPr>
        <p:spPr>
          <a:xfrm>
            <a:off x="548640" y="4114800"/>
            <a:ext cx="5212080" cy="1965960"/>
          </a:xfrm>
          <a:prstGeom prst="roundRect">
            <a:avLst>
              <a:gd fmla="val 372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22960" y="4389120"/>
            <a:ext cx="548640" cy="54864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txBox="1"/>
          <p:nvPr/>
        </p:nvSpPr>
        <p:spPr>
          <a:xfrm>
            <a:off x="822960" y="43891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60"/>
              <a:buFont typeface="Calibri"/>
              <a:buNone/>
            </a:pPr>
            <a:r>
              <a:rPr b="1" i="0" lang="en-US" sz="1560" u="none" cap="none" strike="noStrike">
                <a:solidFill>
                  <a:srgbClr val="1E2761"/>
                </a:solidFill>
                <a:latin typeface="Calibri"/>
                <a:ea typeface="Calibri"/>
                <a:cs typeface="Calibri"/>
                <a:sym typeface="Calibri"/>
              </a:rPr>
              <a:t>🧩</a:t>
            </a:r>
            <a:endParaRPr b="0" i="0" sz="1560" u="none" cap="none" strike="noStrike">
              <a:solidFill>
                <a:schemeClr val="dk1"/>
              </a:solidFill>
              <a:latin typeface="Calibri"/>
              <a:ea typeface="Calibri"/>
              <a:cs typeface="Calibri"/>
              <a:sym typeface="Calibri"/>
            </a:endParaRPr>
          </a:p>
        </p:txBody>
      </p:sp>
      <p:sp>
        <p:nvSpPr>
          <p:cNvPr id="45" name="Google Shape;45;p2"/>
          <p:cNvSpPr txBox="1"/>
          <p:nvPr/>
        </p:nvSpPr>
        <p:spPr>
          <a:xfrm>
            <a:off x="1554480" y="4370832"/>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Java web legacy (JSP, MyBatis)</a:t>
            </a:r>
            <a:endParaRPr b="0" i="0" sz="1500" u="none" cap="none" strike="noStrike">
              <a:solidFill>
                <a:schemeClr val="dk1"/>
              </a:solidFill>
              <a:latin typeface="Calibri"/>
              <a:ea typeface="Calibri"/>
              <a:cs typeface="Calibri"/>
              <a:sym typeface="Calibri"/>
            </a:endParaRPr>
          </a:p>
        </p:txBody>
      </p:sp>
      <p:sp>
        <p:nvSpPr>
          <p:cNvPr id="46" name="Google Shape;46;p2"/>
          <p:cNvSpPr txBox="1"/>
          <p:nvPr/>
        </p:nvSpPr>
        <p:spPr>
          <a:xfrm>
            <a:off x="822960" y="5029200"/>
            <a:ext cx="466344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Hệ thống nhiều ràng buộc kỹ thuật — mỗi thay đổi cần đánh giá ảnh hưởng cẩn thận.</a:t>
            </a:r>
            <a:endParaRPr b="0" i="0" sz="1250" u="none" cap="none" strike="noStrike">
              <a:solidFill>
                <a:schemeClr val="dk1"/>
              </a:solidFill>
              <a:latin typeface="Calibri"/>
              <a:ea typeface="Calibri"/>
              <a:cs typeface="Calibri"/>
              <a:sym typeface="Calibri"/>
            </a:endParaRPr>
          </a:p>
        </p:txBody>
      </p:sp>
      <p:sp>
        <p:nvSpPr>
          <p:cNvPr id="47" name="Google Shape;47;p2"/>
          <p:cNvSpPr/>
          <p:nvPr/>
        </p:nvSpPr>
        <p:spPr>
          <a:xfrm>
            <a:off x="6080760" y="4114800"/>
            <a:ext cx="5212080" cy="1965960"/>
          </a:xfrm>
          <a:prstGeom prst="roundRect">
            <a:avLst>
              <a:gd fmla="val 372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355080" y="4389120"/>
            <a:ext cx="548640" cy="54864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6355080" y="43891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60"/>
              <a:buFont typeface="Calibri"/>
              <a:buNone/>
            </a:pPr>
            <a:r>
              <a:rPr b="1" i="0" lang="en-US" sz="1560" u="none" cap="none" strike="noStrike">
                <a:solidFill>
                  <a:srgbClr val="1E2761"/>
                </a:solidFill>
                <a:latin typeface="Calibri"/>
                <a:ea typeface="Calibri"/>
                <a:cs typeface="Calibri"/>
                <a:sym typeface="Calibri"/>
              </a:rPr>
              <a:t>🔄</a:t>
            </a:r>
            <a:endParaRPr b="0" i="0" sz="1560" u="none" cap="none" strike="noStrike">
              <a:solidFill>
                <a:schemeClr val="dk1"/>
              </a:solidFill>
              <a:latin typeface="Calibri"/>
              <a:ea typeface="Calibri"/>
              <a:cs typeface="Calibri"/>
              <a:sym typeface="Calibri"/>
            </a:endParaRPr>
          </a:p>
        </p:txBody>
      </p:sp>
      <p:sp>
        <p:nvSpPr>
          <p:cNvPr id="50" name="Google Shape;50;p2"/>
          <p:cNvSpPr txBox="1"/>
          <p:nvPr/>
        </p:nvSpPr>
        <p:spPr>
          <a:xfrm>
            <a:off x="7086600" y="4370832"/>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4 năm em trực tiếp support</a:t>
            </a:r>
            <a:endParaRPr b="0" i="0" sz="1500" u="none" cap="none" strike="noStrike">
              <a:solidFill>
                <a:schemeClr val="dk1"/>
              </a:solidFill>
              <a:latin typeface="Calibri"/>
              <a:ea typeface="Calibri"/>
              <a:cs typeface="Calibri"/>
              <a:sym typeface="Calibri"/>
            </a:endParaRPr>
          </a:p>
        </p:txBody>
      </p:sp>
      <p:sp>
        <p:nvSpPr>
          <p:cNvPr id="51" name="Google Shape;51;p2"/>
          <p:cNvSpPr txBox="1"/>
          <p:nvPr/>
        </p:nvSpPr>
        <p:spPr>
          <a:xfrm>
            <a:off x="6355080" y="5029200"/>
            <a:ext cx="466344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Kế thừa hệ thống từ 2022, tiếp nhận và xử lý yêu cầu người dùng hằng ngày.</a:t>
            </a:r>
            <a:endParaRPr b="0" i="0" sz="1250" u="none" cap="none" strike="noStrike">
              <a:solidFill>
                <a:schemeClr val="dk1"/>
              </a:solidFill>
              <a:latin typeface="Calibri"/>
              <a:ea typeface="Calibri"/>
              <a:cs typeface="Calibri"/>
              <a:sym typeface="Calibri"/>
            </a:endParaRPr>
          </a:p>
        </p:txBody>
      </p:sp>
      <p:sp>
        <p:nvSpPr>
          <p:cNvPr id="52" name="Google Shape;52;p2"/>
          <p:cNvSpPr/>
          <p:nvPr/>
        </p:nvSpPr>
        <p:spPr>
          <a:xfrm>
            <a:off x="11475720" y="644652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b="0" i="0" lang="en-US" sz="1000" u="none" cap="none" strike="noStrike">
                <a:solidFill>
                  <a:srgbClr val="5B6478"/>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3"/>
          <p:cNvSpPr txBox="1"/>
          <p:nvPr/>
        </p:nvSpPr>
        <p:spPr>
          <a:xfrm>
            <a:off x="548640" y="411480"/>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2800"/>
              <a:buFont typeface="Cambria"/>
              <a:buNone/>
            </a:pPr>
            <a:r>
              <a:rPr b="1" i="0" lang="en-US" sz="2800" u="none" cap="none" strike="noStrike">
                <a:solidFill>
                  <a:srgbClr val="222833"/>
                </a:solidFill>
                <a:latin typeface="Cambria"/>
                <a:ea typeface="Cambria"/>
                <a:cs typeface="Cambria"/>
                <a:sym typeface="Cambria"/>
              </a:rPr>
              <a:t>Công việc hằng ngày — một quy trình BA thu nhỏ</a:t>
            </a:r>
            <a:endParaRPr b="0" i="0" sz="2800" u="none" cap="none" strike="noStrike">
              <a:solidFill>
                <a:schemeClr val="dk1"/>
              </a:solidFill>
              <a:latin typeface="Calibri"/>
              <a:ea typeface="Calibri"/>
              <a:cs typeface="Calibri"/>
              <a:sym typeface="Calibri"/>
            </a:endParaRPr>
          </a:p>
        </p:txBody>
      </p:sp>
      <p:sp>
        <p:nvSpPr>
          <p:cNvPr id="59" name="Google Shape;59;p3"/>
          <p:cNvSpPr txBox="1"/>
          <p:nvPr/>
        </p:nvSpPr>
        <p:spPr>
          <a:xfrm>
            <a:off x="548640" y="10058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8"/>
              </a:buClr>
              <a:buSzPts val="1350"/>
              <a:buFont typeface="Calibri"/>
              <a:buNone/>
            </a:pPr>
            <a:r>
              <a:rPr b="0" i="0" lang="en-US" sz="1350" u="none" cap="none" strike="noStrike">
                <a:solidFill>
                  <a:srgbClr val="5B6478"/>
                </a:solidFill>
                <a:latin typeface="Calibri"/>
                <a:ea typeface="Calibri"/>
                <a:cs typeface="Calibri"/>
                <a:sym typeface="Calibri"/>
              </a:rPr>
              <a:t>Dù chưa gọi tên theo chuẩn BA, đây chính là luồng thu thập – phân tích – triển khai – xác nhận yêu cầu</a:t>
            </a:r>
            <a:endParaRPr b="0" i="0" sz="1350" u="none" cap="none" strike="noStrike">
              <a:solidFill>
                <a:schemeClr val="dk1"/>
              </a:solidFill>
              <a:latin typeface="Calibri"/>
              <a:ea typeface="Calibri"/>
              <a:cs typeface="Calibri"/>
              <a:sym typeface="Calibri"/>
            </a:endParaRPr>
          </a:p>
        </p:txBody>
      </p:sp>
      <p:sp>
        <p:nvSpPr>
          <p:cNvPr id="60" name="Google Shape;60;p3"/>
          <p:cNvSpPr/>
          <p:nvPr/>
        </p:nvSpPr>
        <p:spPr>
          <a:xfrm>
            <a:off x="548640" y="2148840"/>
            <a:ext cx="1828800" cy="1737360"/>
          </a:xfrm>
          <a:prstGeom prst="roundRect">
            <a:avLst>
              <a:gd fmla="val 421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48640" y="2313432"/>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FE"/>
              </a:buClr>
              <a:buSzPts val="2600"/>
              <a:buFont typeface="Cambria"/>
              <a:buNone/>
            </a:pPr>
            <a:r>
              <a:rPr b="1" i="0" lang="en-US" sz="2600" u="none" cap="none" strike="noStrike">
                <a:solidFill>
                  <a:srgbClr val="3D5AFE"/>
                </a:solidFill>
                <a:latin typeface="Cambria"/>
                <a:ea typeface="Cambria"/>
                <a:cs typeface="Cambria"/>
                <a:sym typeface="Cambria"/>
              </a:rPr>
              <a:t>1</a:t>
            </a:r>
            <a:endParaRPr b="0" i="0" sz="2600" u="none" cap="none" strike="noStrike">
              <a:solidFill>
                <a:schemeClr val="dk1"/>
              </a:solidFill>
              <a:latin typeface="Calibri"/>
              <a:ea typeface="Calibri"/>
              <a:cs typeface="Calibri"/>
              <a:sym typeface="Calibri"/>
            </a:endParaRPr>
          </a:p>
        </p:txBody>
      </p:sp>
      <p:sp>
        <p:nvSpPr>
          <p:cNvPr id="62" name="Google Shape;62;p3"/>
          <p:cNvSpPr txBox="1"/>
          <p:nvPr/>
        </p:nvSpPr>
        <p:spPr>
          <a:xfrm>
            <a:off x="685800" y="2862072"/>
            <a:ext cx="1554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833"/>
              </a:buClr>
              <a:buSzPts val="1300"/>
              <a:buFont typeface="Calibri"/>
              <a:buNone/>
            </a:pPr>
            <a:r>
              <a:rPr b="1" i="0" lang="en-US" sz="1300" u="none" cap="none" strike="noStrike">
                <a:solidFill>
                  <a:srgbClr val="222833"/>
                </a:solidFill>
                <a:latin typeface="Calibri"/>
                <a:ea typeface="Calibri"/>
                <a:cs typeface="Calibri"/>
                <a:sym typeface="Calibri"/>
              </a:rPr>
              <a:t>Tiếp nhận yêu cầu</a:t>
            </a:r>
            <a:endParaRPr b="0" i="0" sz="1300" u="none" cap="none" strike="noStrike">
              <a:solidFill>
                <a:schemeClr val="dk1"/>
              </a:solidFill>
              <a:latin typeface="Calibri"/>
              <a:ea typeface="Calibri"/>
              <a:cs typeface="Calibri"/>
              <a:sym typeface="Calibri"/>
            </a:endParaRPr>
          </a:p>
        </p:txBody>
      </p:sp>
      <p:sp>
        <p:nvSpPr>
          <p:cNvPr id="63" name="Google Shape;63;p3"/>
          <p:cNvSpPr txBox="1"/>
          <p:nvPr/>
        </p:nvSpPr>
        <p:spPr>
          <a:xfrm>
            <a:off x="685800" y="3319272"/>
            <a:ext cx="155448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B6478"/>
              </a:buClr>
              <a:buSzPts val="1050"/>
              <a:buFont typeface="Calibri"/>
              <a:buNone/>
            </a:pPr>
            <a:r>
              <a:rPr b="0" i="0" lang="en-US" sz="1050" u="none" cap="none" strike="noStrike">
                <a:solidFill>
                  <a:srgbClr val="5B6478"/>
                </a:solidFill>
                <a:latin typeface="Calibri"/>
                <a:ea typeface="Calibri"/>
                <a:cs typeface="Calibri"/>
                <a:sym typeface="Calibri"/>
              </a:rPr>
              <a:t>Trực tiếp, chat, email hoặc hệ thống ITSM</a:t>
            </a:r>
            <a:endParaRPr b="0" i="0" sz="1050" u="none" cap="none" strike="noStrike">
              <a:solidFill>
                <a:schemeClr val="dk1"/>
              </a:solidFill>
              <a:latin typeface="Calibri"/>
              <a:ea typeface="Calibri"/>
              <a:cs typeface="Calibri"/>
              <a:sym typeface="Calibri"/>
            </a:endParaRPr>
          </a:p>
        </p:txBody>
      </p:sp>
      <p:sp>
        <p:nvSpPr>
          <p:cNvPr id="64" name="Google Shape;64;p3"/>
          <p:cNvSpPr txBox="1"/>
          <p:nvPr/>
        </p:nvSpPr>
        <p:spPr>
          <a:xfrm>
            <a:off x="2377440" y="2743200"/>
            <a:ext cx="3108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8"/>
              </a:buClr>
              <a:buSzPts val="2000"/>
              <a:buFont typeface="Calibri"/>
              <a:buNone/>
            </a:pPr>
            <a:r>
              <a:rPr b="0" i="0" lang="en-US" sz="2000" u="none" cap="none" strike="noStrike">
                <a:solidFill>
                  <a:srgbClr val="5B647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65" name="Google Shape;65;p3"/>
          <p:cNvSpPr/>
          <p:nvPr/>
        </p:nvSpPr>
        <p:spPr>
          <a:xfrm>
            <a:off x="2688336" y="2148840"/>
            <a:ext cx="1828800" cy="1737360"/>
          </a:xfrm>
          <a:prstGeom prst="roundRect">
            <a:avLst>
              <a:gd fmla="val 421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txBox="1"/>
          <p:nvPr/>
        </p:nvSpPr>
        <p:spPr>
          <a:xfrm>
            <a:off x="2688336" y="2313432"/>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FE"/>
              </a:buClr>
              <a:buSzPts val="2600"/>
              <a:buFont typeface="Cambria"/>
              <a:buNone/>
            </a:pPr>
            <a:r>
              <a:rPr b="1" i="0" lang="en-US" sz="2600" u="none" cap="none" strike="noStrike">
                <a:solidFill>
                  <a:srgbClr val="3D5AFE"/>
                </a:solidFill>
                <a:latin typeface="Cambria"/>
                <a:ea typeface="Cambria"/>
                <a:cs typeface="Cambria"/>
                <a:sym typeface="Cambria"/>
              </a:rPr>
              <a:t>2</a:t>
            </a:r>
            <a:endParaRPr b="0" i="0" sz="2600" u="none" cap="none" strike="noStrike">
              <a:solidFill>
                <a:schemeClr val="dk1"/>
              </a:solidFill>
              <a:latin typeface="Calibri"/>
              <a:ea typeface="Calibri"/>
              <a:cs typeface="Calibri"/>
              <a:sym typeface="Calibri"/>
            </a:endParaRPr>
          </a:p>
        </p:txBody>
      </p:sp>
      <p:sp>
        <p:nvSpPr>
          <p:cNvPr id="67" name="Google Shape;67;p3"/>
          <p:cNvSpPr txBox="1"/>
          <p:nvPr/>
        </p:nvSpPr>
        <p:spPr>
          <a:xfrm>
            <a:off x="2825496" y="2862072"/>
            <a:ext cx="1554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833"/>
              </a:buClr>
              <a:buSzPts val="1300"/>
              <a:buFont typeface="Calibri"/>
              <a:buNone/>
            </a:pPr>
            <a:r>
              <a:rPr b="1" i="0" lang="en-US" sz="1300" u="none" cap="none" strike="noStrike">
                <a:solidFill>
                  <a:srgbClr val="222833"/>
                </a:solidFill>
                <a:latin typeface="Calibri"/>
                <a:ea typeface="Calibri"/>
                <a:cs typeface="Calibri"/>
                <a:sym typeface="Calibri"/>
              </a:rPr>
              <a:t>Phân tích</a:t>
            </a:r>
            <a:endParaRPr b="0" i="0" sz="1300" u="none" cap="none" strike="noStrike">
              <a:solidFill>
                <a:schemeClr val="dk1"/>
              </a:solidFill>
              <a:latin typeface="Calibri"/>
              <a:ea typeface="Calibri"/>
              <a:cs typeface="Calibri"/>
              <a:sym typeface="Calibri"/>
            </a:endParaRPr>
          </a:p>
        </p:txBody>
      </p:sp>
      <p:sp>
        <p:nvSpPr>
          <p:cNvPr id="68" name="Google Shape;68;p3"/>
          <p:cNvSpPr txBox="1"/>
          <p:nvPr/>
        </p:nvSpPr>
        <p:spPr>
          <a:xfrm>
            <a:off x="2825496" y="3319272"/>
            <a:ext cx="155448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B6478"/>
              </a:buClr>
              <a:buSzPts val="1050"/>
              <a:buFont typeface="Calibri"/>
              <a:buNone/>
            </a:pPr>
            <a:r>
              <a:rPr b="0" i="0" lang="en-US" sz="1050" u="none" cap="none" strike="noStrike">
                <a:solidFill>
                  <a:srgbClr val="5B6478"/>
                </a:solidFill>
                <a:latin typeface="Calibri"/>
                <a:ea typeface="Calibri"/>
                <a:cs typeface="Calibri"/>
                <a:sym typeface="Calibri"/>
              </a:rPr>
              <a:t>Làm rõ vấn đề thật sự đằng sau yêu cầu</a:t>
            </a:r>
            <a:endParaRPr b="0" i="0" sz="1050" u="none" cap="none" strike="noStrike">
              <a:solidFill>
                <a:schemeClr val="dk1"/>
              </a:solidFill>
              <a:latin typeface="Calibri"/>
              <a:ea typeface="Calibri"/>
              <a:cs typeface="Calibri"/>
              <a:sym typeface="Calibri"/>
            </a:endParaRPr>
          </a:p>
        </p:txBody>
      </p:sp>
      <p:sp>
        <p:nvSpPr>
          <p:cNvPr id="69" name="Google Shape;69;p3"/>
          <p:cNvSpPr txBox="1"/>
          <p:nvPr/>
        </p:nvSpPr>
        <p:spPr>
          <a:xfrm>
            <a:off x="4517136" y="2743200"/>
            <a:ext cx="3108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8"/>
              </a:buClr>
              <a:buSzPts val="2000"/>
              <a:buFont typeface="Calibri"/>
              <a:buNone/>
            </a:pPr>
            <a:r>
              <a:rPr b="0" i="0" lang="en-US" sz="2000" u="none" cap="none" strike="noStrike">
                <a:solidFill>
                  <a:srgbClr val="5B647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70" name="Google Shape;70;p3"/>
          <p:cNvSpPr/>
          <p:nvPr/>
        </p:nvSpPr>
        <p:spPr>
          <a:xfrm>
            <a:off x="4828032" y="2148840"/>
            <a:ext cx="1828800" cy="1737360"/>
          </a:xfrm>
          <a:prstGeom prst="roundRect">
            <a:avLst>
              <a:gd fmla="val 421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4828032" y="2313432"/>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FE"/>
              </a:buClr>
              <a:buSzPts val="2600"/>
              <a:buFont typeface="Cambria"/>
              <a:buNone/>
            </a:pPr>
            <a:r>
              <a:rPr b="1" i="0" lang="en-US" sz="2600" u="none" cap="none" strike="noStrike">
                <a:solidFill>
                  <a:srgbClr val="3D5AFE"/>
                </a:solidFill>
                <a:latin typeface="Cambria"/>
                <a:ea typeface="Cambria"/>
                <a:cs typeface="Cambria"/>
                <a:sym typeface="Cambria"/>
              </a:rPr>
              <a:t>3</a:t>
            </a:r>
            <a:endParaRPr b="0" i="0" sz="2600" u="none" cap="none" strike="noStrike">
              <a:solidFill>
                <a:schemeClr val="dk1"/>
              </a:solidFill>
              <a:latin typeface="Calibri"/>
              <a:ea typeface="Calibri"/>
              <a:cs typeface="Calibri"/>
              <a:sym typeface="Calibri"/>
            </a:endParaRPr>
          </a:p>
        </p:txBody>
      </p:sp>
      <p:sp>
        <p:nvSpPr>
          <p:cNvPr id="72" name="Google Shape;72;p3"/>
          <p:cNvSpPr txBox="1"/>
          <p:nvPr/>
        </p:nvSpPr>
        <p:spPr>
          <a:xfrm>
            <a:off x="4965192" y="2862072"/>
            <a:ext cx="1554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833"/>
              </a:buClr>
              <a:buSzPts val="1300"/>
              <a:buFont typeface="Calibri"/>
              <a:buNone/>
            </a:pPr>
            <a:r>
              <a:rPr b="1" i="0" lang="en-US" sz="1300" u="none" cap="none" strike="noStrike">
                <a:solidFill>
                  <a:srgbClr val="222833"/>
                </a:solidFill>
                <a:latin typeface="Calibri"/>
                <a:ea typeface="Calibri"/>
                <a:cs typeface="Calibri"/>
                <a:sym typeface="Calibri"/>
              </a:rPr>
              <a:t>Lên kế hoạch</a:t>
            </a:r>
            <a:endParaRPr b="0" i="0" sz="1300" u="none" cap="none" strike="noStrike">
              <a:solidFill>
                <a:schemeClr val="dk1"/>
              </a:solidFill>
              <a:latin typeface="Calibri"/>
              <a:ea typeface="Calibri"/>
              <a:cs typeface="Calibri"/>
              <a:sym typeface="Calibri"/>
            </a:endParaRPr>
          </a:p>
        </p:txBody>
      </p:sp>
      <p:sp>
        <p:nvSpPr>
          <p:cNvPr id="73" name="Google Shape;73;p3"/>
          <p:cNvSpPr txBox="1"/>
          <p:nvPr/>
        </p:nvSpPr>
        <p:spPr>
          <a:xfrm>
            <a:off x="4965192" y="3319272"/>
            <a:ext cx="155448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B6478"/>
              </a:buClr>
              <a:buSzPts val="1050"/>
              <a:buFont typeface="Calibri"/>
              <a:buNone/>
            </a:pPr>
            <a:r>
              <a:rPr b="0" i="0" lang="en-US" sz="1050" u="none" cap="none" strike="noStrike">
                <a:solidFill>
                  <a:srgbClr val="5B6478"/>
                </a:solidFill>
                <a:latin typeface="Calibri"/>
                <a:ea typeface="Calibri"/>
                <a:cs typeface="Calibri"/>
                <a:sym typeface="Calibri"/>
              </a:rPr>
              <a:t>Change plan: nội dung, quy trình chi tiết</a:t>
            </a:r>
            <a:endParaRPr b="0" i="0" sz="1050" u="none" cap="none" strike="noStrike">
              <a:solidFill>
                <a:schemeClr val="dk1"/>
              </a:solidFill>
              <a:latin typeface="Calibri"/>
              <a:ea typeface="Calibri"/>
              <a:cs typeface="Calibri"/>
              <a:sym typeface="Calibri"/>
            </a:endParaRPr>
          </a:p>
        </p:txBody>
      </p:sp>
      <p:sp>
        <p:nvSpPr>
          <p:cNvPr id="74" name="Google Shape;74;p3"/>
          <p:cNvSpPr txBox="1"/>
          <p:nvPr/>
        </p:nvSpPr>
        <p:spPr>
          <a:xfrm>
            <a:off x="6656832" y="2743200"/>
            <a:ext cx="3108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8"/>
              </a:buClr>
              <a:buSzPts val="2000"/>
              <a:buFont typeface="Calibri"/>
              <a:buNone/>
            </a:pPr>
            <a:r>
              <a:rPr b="0" i="0" lang="en-US" sz="2000" u="none" cap="none" strike="noStrike">
                <a:solidFill>
                  <a:srgbClr val="5B647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75" name="Google Shape;75;p3"/>
          <p:cNvSpPr/>
          <p:nvPr/>
        </p:nvSpPr>
        <p:spPr>
          <a:xfrm>
            <a:off x="6967728" y="2148840"/>
            <a:ext cx="1828800" cy="1737360"/>
          </a:xfrm>
          <a:prstGeom prst="roundRect">
            <a:avLst>
              <a:gd fmla="val 4211"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txBox="1"/>
          <p:nvPr/>
        </p:nvSpPr>
        <p:spPr>
          <a:xfrm>
            <a:off x="6967728" y="2313432"/>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FE"/>
              </a:buClr>
              <a:buSzPts val="2600"/>
              <a:buFont typeface="Cambria"/>
              <a:buNone/>
            </a:pPr>
            <a:r>
              <a:rPr b="1" i="0" lang="en-US" sz="2600" u="none" cap="none" strike="noStrike">
                <a:solidFill>
                  <a:srgbClr val="3D5AFE"/>
                </a:solidFill>
                <a:latin typeface="Cambria"/>
                <a:ea typeface="Cambria"/>
                <a:cs typeface="Cambria"/>
                <a:sym typeface="Cambria"/>
              </a:rPr>
              <a:t>4</a:t>
            </a:r>
            <a:endParaRPr b="0" i="0" sz="2600" u="none" cap="none" strike="noStrike">
              <a:solidFill>
                <a:schemeClr val="dk1"/>
              </a:solidFill>
              <a:latin typeface="Calibri"/>
              <a:ea typeface="Calibri"/>
              <a:cs typeface="Calibri"/>
              <a:sym typeface="Calibri"/>
            </a:endParaRPr>
          </a:p>
        </p:txBody>
      </p:sp>
      <p:sp>
        <p:nvSpPr>
          <p:cNvPr id="77" name="Google Shape;77;p3"/>
          <p:cNvSpPr txBox="1"/>
          <p:nvPr/>
        </p:nvSpPr>
        <p:spPr>
          <a:xfrm>
            <a:off x="7104888" y="2862072"/>
            <a:ext cx="1554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2833"/>
              </a:buClr>
              <a:buSzPts val="1300"/>
              <a:buFont typeface="Calibri"/>
              <a:buNone/>
            </a:pPr>
            <a:r>
              <a:rPr b="1" i="0" lang="en-US" sz="1300" u="none" cap="none" strike="noStrike">
                <a:solidFill>
                  <a:srgbClr val="222833"/>
                </a:solidFill>
                <a:latin typeface="Calibri"/>
                <a:ea typeface="Calibri"/>
                <a:cs typeface="Calibri"/>
                <a:sym typeface="Calibri"/>
              </a:rPr>
              <a:t>Thực hiện</a:t>
            </a:r>
            <a:endParaRPr b="0" i="0" sz="1300" u="none" cap="none" strike="noStrike">
              <a:solidFill>
                <a:schemeClr val="dk1"/>
              </a:solidFill>
              <a:latin typeface="Calibri"/>
              <a:ea typeface="Calibri"/>
              <a:cs typeface="Calibri"/>
              <a:sym typeface="Calibri"/>
            </a:endParaRPr>
          </a:p>
        </p:txBody>
      </p:sp>
      <p:sp>
        <p:nvSpPr>
          <p:cNvPr id="78" name="Google Shape;78;p3"/>
          <p:cNvSpPr txBox="1"/>
          <p:nvPr/>
        </p:nvSpPr>
        <p:spPr>
          <a:xfrm>
            <a:off x="7104888" y="3319272"/>
            <a:ext cx="155448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5B6478"/>
              </a:buClr>
              <a:buSzPts val="1050"/>
              <a:buFont typeface="Calibri"/>
              <a:buNone/>
            </a:pPr>
            <a:r>
              <a:rPr b="0" i="0" lang="en-US" sz="1050" u="none" cap="none" strike="noStrike">
                <a:solidFill>
                  <a:srgbClr val="5B6478"/>
                </a:solidFill>
                <a:latin typeface="Calibri"/>
                <a:ea typeface="Calibri"/>
                <a:cs typeface="Calibri"/>
                <a:sym typeface="Calibri"/>
              </a:rPr>
              <a:t>Thiết kế dữ liệu, màn hình, phát triển</a:t>
            </a:r>
            <a:endParaRPr b="0" i="0" sz="1050" u="none" cap="none" strike="noStrike">
              <a:solidFill>
                <a:schemeClr val="dk1"/>
              </a:solidFill>
              <a:latin typeface="Calibri"/>
              <a:ea typeface="Calibri"/>
              <a:cs typeface="Calibri"/>
              <a:sym typeface="Calibri"/>
            </a:endParaRPr>
          </a:p>
        </p:txBody>
      </p:sp>
      <p:sp>
        <p:nvSpPr>
          <p:cNvPr id="79" name="Google Shape;79;p3"/>
          <p:cNvSpPr txBox="1"/>
          <p:nvPr/>
        </p:nvSpPr>
        <p:spPr>
          <a:xfrm>
            <a:off x="8796528" y="2743200"/>
            <a:ext cx="3108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8"/>
              </a:buClr>
              <a:buSzPts val="2000"/>
              <a:buFont typeface="Calibri"/>
              <a:buNone/>
            </a:pPr>
            <a:r>
              <a:rPr b="0" i="0" lang="en-US" sz="2000" u="none" cap="none" strike="noStrike">
                <a:solidFill>
                  <a:srgbClr val="5B647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80" name="Google Shape;80;p3"/>
          <p:cNvSpPr/>
          <p:nvPr/>
        </p:nvSpPr>
        <p:spPr>
          <a:xfrm>
            <a:off x="9107424" y="2148840"/>
            <a:ext cx="1828800" cy="1737360"/>
          </a:xfrm>
          <a:prstGeom prst="roundRect">
            <a:avLst>
              <a:gd fmla="val 421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txBox="1"/>
          <p:nvPr/>
        </p:nvSpPr>
        <p:spPr>
          <a:xfrm>
            <a:off x="9107424" y="2313432"/>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2600"/>
              <a:buFont typeface="Cambria"/>
              <a:buNone/>
            </a:pPr>
            <a:r>
              <a:rPr b="1" i="0" lang="en-US" sz="2600" u="none" cap="none" strike="noStrike">
                <a:solidFill>
                  <a:srgbClr val="CADCFC"/>
                </a:solidFill>
                <a:latin typeface="Cambria"/>
                <a:ea typeface="Cambria"/>
                <a:cs typeface="Cambria"/>
                <a:sym typeface="Cambria"/>
              </a:rPr>
              <a:t>5</a:t>
            </a:r>
            <a:endParaRPr b="0" i="0" sz="2600" u="none" cap="none" strike="noStrike">
              <a:solidFill>
                <a:schemeClr val="dk1"/>
              </a:solidFill>
              <a:latin typeface="Calibri"/>
              <a:ea typeface="Calibri"/>
              <a:cs typeface="Calibri"/>
              <a:sym typeface="Calibri"/>
            </a:endParaRPr>
          </a:p>
        </p:txBody>
      </p:sp>
      <p:sp>
        <p:nvSpPr>
          <p:cNvPr id="82" name="Google Shape;82;p3"/>
          <p:cNvSpPr txBox="1"/>
          <p:nvPr/>
        </p:nvSpPr>
        <p:spPr>
          <a:xfrm>
            <a:off x="9244584" y="2862072"/>
            <a:ext cx="1554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Xác nhận &amp; đóng</a:t>
            </a:r>
            <a:endParaRPr b="0" i="0" sz="1300" u="none" cap="none" strike="noStrike">
              <a:solidFill>
                <a:schemeClr val="dk1"/>
              </a:solidFill>
              <a:latin typeface="Calibri"/>
              <a:ea typeface="Calibri"/>
              <a:cs typeface="Calibri"/>
              <a:sym typeface="Calibri"/>
            </a:endParaRPr>
          </a:p>
        </p:txBody>
      </p:sp>
      <p:sp>
        <p:nvSpPr>
          <p:cNvPr id="83" name="Google Shape;83;p3"/>
          <p:cNvSpPr txBox="1"/>
          <p:nvPr/>
        </p:nvSpPr>
        <p:spPr>
          <a:xfrm>
            <a:off x="9244584" y="3319272"/>
            <a:ext cx="155448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CADCFC"/>
              </a:buClr>
              <a:buSzPts val="1050"/>
              <a:buFont typeface="Calibri"/>
              <a:buNone/>
            </a:pPr>
            <a:r>
              <a:rPr b="0" i="0" lang="en-US" sz="1050" u="none" cap="none" strike="noStrike">
                <a:solidFill>
                  <a:srgbClr val="CADCFC"/>
                </a:solidFill>
                <a:latin typeface="Calibri"/>
                <a:ea typeface="Calibri"/>
                <a:cs typeface="Calibri"/>
                <a:sym typeface="Calibri"/>
              </a:rPr>
              <a:t>Đối chiếu với user, hoàn tất yêu cầu</a:t>
            </a:r>
            <a:endParaRPr b="0" i="0" sz="1050" u="none" cap="none" strike="noStrike">
              <a:solidFill>
                <a:schemeClr val="dk1"/>
              </a:solidFill>
              <a:latin typeface="Calibri"/>
              <a:ea typeface="Calibri"/>
              <a:cs typeface="Calibri"/>
              <a:sym typeface="Calibri"/>
            </a:endParaRPr>
          </a:p>
        </p:txBody>
      </p:sp>
      <p:sp>
        <p:nvSpPr>
          <p:cNvPr id="84" name="Google Shape;84;p3"/>
          <p:cNvSpPr/>
          <p:nvPr/>
        </p:nvSpPr>
        <p:spPr>
          <a:xfrm>
            <a:off x="548640" y="4343400"/>
            <a:ext cx="11064240" cy="1691640"/>
          </a:xfrm>
          <a:prstGeom prst="roundRect">
            <a:avLst>
              <a:gd fmla="val 4324"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txBox="1"/>
          <p:nvPr/>
        </p:nvSpPr>
        <p:spPr>
          <a:xfrm>
            <a:off x="868680" y="457200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Đang chủ động chuẩn hóa</a:t>
            </a:r>
            <a:endParaRPr b="0" i="0" sz="1300" u="none" cap="none" strike="noStrike">
              <a:solidFill>
                <a:schemeClr val="dk1"/>
              </a:solidFill>
              <a:latin typeface="Calibri"/>
              <a:ea typeface="Calibri"/>
              <a:cs typeface="Calibri"/>
              <a:sym typeface="Calibri"/>
            </a:endParaRPr>
          </a:p>
        </p:txBody>
      </p:sp>
      <p:sp>
        <p:nvSpPr>
          <p:cNvPr id="86" name="Google Shape;86;p3"/>
          <p:cNvSpPr txBox="1"/>
          <p:nvPr/>
        </p:nvSpPr>
        <p:spPr>
          <a:xfrm>
            <a:off x="868680" y="4956048"/>
            <a:ext cx="10424160" cy="9601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B6478"/>
              </a:buClr>
              <a:buSzPts val="1250"/>
              <a:buFont typeface="Calibri"/>
              <a:buNone/>
            </a:pPr>
            <a:r>
              <a:rPr lang="en-US" sz="1250">
                <a:solidFill>
                  <a:srgbClr val="5B6478"/>
                </a:solidFill>
                <a:latin typeface="Calibri"/>
                <a:ea typeface="Calibri"/>
                <a:cs typeface="Calibri"/>
                <a:sym typeface="Calibri"/>
              </a:rPr>
              <a:t>Em đang học hỏi </a:t>
            </a:r>
            <a:r>
              <a:rPr b="0" i="0" lang="en-US" sz="1250" u="none" cap="none" strike="noStrike">
                <a:solidFill>
                  <a:srgbClr val="5B6478"/>
                </a:solidFill>
                <a:latin typeface="Calibri"/>
                <a:ea typeface="Calibri"/>
                <a:cs typeface="Calibri"/>
                <a:sym typeface="Calibri"/>
              </a:rPr>
              <a:t>đang áp dụng </a:t>
            </a:r>
            <a:r>
              <a:rPr lang="en-US" sz="1250">
                <a:solidFill>
                  <a:srgbClr val="5B6478"/>
                </a:solidFill>
                <a:latin typeface="Calibri"/>
                <a:ea typeface="Calibri"/>
                <a:cs typeface="Calibri"/>
                <a:sym typeface="Calibri"/>
              </a:rPr>
              <a:t>quy trình làm việc của BA </a:t>
            </a:r>
            <a:r>
              <a:rPr b="0" i="0" lang="en-US" sz="1250" u="none" cap="none" strike="noStrike">
                <a:solidFill>
                  <a:srgbClr val="5B6478"/>
                </a:solidFill>
                <a:latin typeface="Calibri"/>
                <a:ea typeface="Calibri"/>
                <a:cs typeface="Calibri"/>
                <a:sym typeface="Calibri"/>
              </a:rPr>
              <a:t> trực tiếp vào một task thực tế </a:t>
            </a:r>
            <a:r>
              <a:rPr lang="en-US" sz="1250">
                <a:solidFill>
                  <a:srgbClr val="5B6478"/>
                </a:solidFill>
                <a:latin typeface="Calibri"/>
                <a:ea typeface="Calibri"/>
                <a:cs typeface="Calibri"/>
                <a:sym typeface="Calibri"/>
              </a:rPr>
              <a:t>gần đây</a:t>
            </a:r>
            <a:r>
              <a:rPr b="0" i="0" lang="en-US" sz="1250" u="none" cap="none" strike="noStrike">
                <a:solidFill>
                  <a:srgbClr val="5B6478"/>
                </a:solidFill>
                <a:latin typeface="Calibri"/>
                <a:ea typeface="Calibri"/>
                <a:cs typeface="Calibri"/>
                <a:sym typeface="Calibri"/>
              </a:rPr>
              <a:t>: dashboard theo dõi kỹ năng công nhân — từ thu thập yêu cầu, MoM, Data Dictionary cho đến thiết kế màn hình.</a:t>
            </a:r>
            <a:endParaRPr b="0" i="0" sz="1250" u="none" cap="none" strike="noStrike">
              <a:solidFill>
                <a:schemeClr val="dk1"/>
              </a:solidFill>
              <a:latin typeface="Calibri"/>
              <a:ea typeface="Calibri"/>
              <a:cs typeface="Calibri"/>
              <a:sym typeface="Calibri"/>
            </a:endParaRPr>
          </a:p>
        </p:txBody>
      </p:sp>
      <p:sp>
        <p:nvSpPr>
          <p:cNvPr id="87" name="Google Shape;87;p3"/>
          <p:cNvSpPr/>
          <p:nvPr/>
        </p:nvSpPr>
        <p:spPr>
          <a:xfrm>
            <a:off x="11475720" y="644652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b="0" i="0" lang="en-US" sz="1000" u="none" cap="none" strike="noStrike">
                <a:solidFill>
                  <a:srgbClr val="5B6478"/>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4"/>
          <p:cNvSpPr txBox="1"/>
          <p:nvPr/>
        </p:nvSpPr>
        <p:spPr>
          <a:xfrm>
            <a:off x="548640" y="3657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FE"/>
              </a:buClr>
              <a:buSzPts val="1300"/>
              <a:buFont typeface="Calibri"/>
              <a:buNone/>
            </a:pPr>
            <a:r>
              <a:rPr b="1" i="0" lang="en-US" sz="1300" u="none" cap="none" strike="noStrike">
                <a:solidFill>
                  <a:srgbClr val="3D5AFE"/>
                </a:solidFill>
                <a:latin typeface="Calibri"/>
                <a:ea typeface="Calibri"/>
                <a:cs typeface="Calibri"/>
                <a:sym typeface="Calibri"/>
              </a:rPr>
              <a:t>Case study 1</a:t>
            </a:r>
            <a:endParaRPr b="0" i="0" sz="1300" u="none" cap="none" strike="noStrike">
              <a:solidFill>
                <a:schemeClr val="dk1"/>
              </a:solidFill>
              <a:latin typeface="Calibri"/>
              <a:ea typeface="Calibri"/>
              <a:cs typeface="Calibri"/>
              <a:sym typeface="Calibri"/>
            </a:endParaRPr>
          </a:p>
        </p:txBody>
      </p:sp>
      <p:sp>
        <p:nvSpPr>
          <p:cNvPr id="94" name="Google Shape;94;p4"/>
          <p:cNvSpPr txBox="1"/>
          <p:nvPr/>
        </p:nvSpPr>
        <p:spPr>
          <a:xfrm>
            <a:off x="548640" y="658368"/>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2600"/>
              <a:buFont typeface="Cambria"/>
              <a:buNone/>
            </a:pPr>
            <a:r>
              <a:rPr b="1" i="0" lang="en-US" sz="2600" u="none" cap="none" strike="noStrike">
                <a:solidFill>
                  <a:srgbClr val="222833"/>
                </a:solidFill>
                <a:latin typeface="Cambria"/>
                <a:ea typeface="Cambria"/>
                <a:cs typeface="Cambria"/>
                <a:sym typeface="Cambria"/>
              </a:rPr>
              <a:t>Từ một lời than phiền đến một tính năng mới</a:t>
            </a:r>
            <a:endParaRPr b="0" i="0" sz="2600" u="none" cap="none" strike="noStrike">
              <a:solidFill>
                <a:schemeClr val="dk1"/>
              </a:solidFill>
              <a:latin typeface="Calibri"/>
              <a:ea typeface="Calibri"/>
              <a:cs typeface="Calibri"/>
              <a:sym typeface="Calibri"/>
            </a:endParaRPr>
          </a:p>
        </p:txBody>
      </p:sp>
      <p:sp>
        <p:nvSpPr>
          <p:cNvPr id="95" name="Google Shape;95;p4"/>
          <p:cNvSpPr/>
          <p:nvPr/>
        </p:nvSpPr>
        <p:spPr>
          <a:xfrm>
            <a:off x="548640" y="1417320"/>
            <a:ext cx="82296" cy="859536"/>
          </a:xfrm>
          <a:prstGeom prst="roundRect">
            <a:avLst>
              <a:gd fmla="val 16667" name="adj"/>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txBox="1"/>
          <p:nvPr/>
        </p:nvSpPr>
        <p:spPr>
          <a:xfrm>
            <a:off x="868680" y="1399032"/>
            <a:ext cx="274320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Vấn đề ban đầu</a:t>
            </a:r>
            <a:endParaRPr b="0" i="0" sz="1300" u="none" cap="none" strike="noStrike">
              <a:solidFill>
                <a:schemeClr val="dk1"/>
              </a:solidFill>
              <a:latin typeface="Calibri"/>
              <a:ea typeface="Calibri"/>
              <a:cs typeface="Calibri"/>
              <a:sym typeface="Calibri"/>
            </a:endParaRPr>
          </a:p>
        </p:txBody>
      </p:sp>
      <p:sp>
        <p:nvSpPr>
          <p:cNvPr id="97" name="Google Shape;97;p4"/>
          <p:cNvSpPr txBox="1"/>
          <p:nvPr/>
        </p:nvSpPr>
        <p:spPr>
          <a:xfrm>
            <a:off x="3657600" y="1399032"/>
            <a:ext cx="7955280" cy="102412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833"/>
              </a:buClr>
              <a:buSzPts val="1300"/>
              <a:buFont typeface="Calibri"/>
              <a:buNone/>
            </a:pPr>
            <a:r>
              <a:rPr b="0" i="0" lang="en-US" sz="1300" u="none" cap="none" strike="noStrike">
                <a:solidFill>
                  <a:srgbClr val="222833"/>
                </a:solidFill>
                <a:latin typeface="Calibri"/>
                <a:ea typeface="Calibri"/>
                <a:cs typeface="Calibri"/>
                <a:sym typeface="Calibri"/>
              </a:rPr>
              <a:t>User phàn nàn: công ty cho ký chính sách điện tử, nhưng sau đó </a:t>
            </a:r>
            <a:r>
              <a:rPr lang="en-US" sz="1300">
                <a:solidFill>
                  <a:srgbClr val="222833"/>
                </a:solidFill>
                <a:latin typeface="Calibri"/>
                <a:ea typeface="Calibri"/>
                <a:cs typeface="Calibri"/>
                <a:sym typeface="Calibri"/>
              </a:rPr>
              <a:t>khi được hỏi thì user</a:t>
            </a:r>
            <a:r>
              <a:rPr b="0" i="0" lang="en-US" sz="1300" u="none" cap="none" strike="noStrike">
                <a:solidFill>
                  <a:srgbClr val="222833"/>
                </a:solidFill>
                <a:latin typeface="Calibri"/>
                <a:ea typeface="Calibri"/>
                <a:cs typeface="Calibri"/>
                <a:sym typeface="Calibri"/>
              </a:rPr>
              <a:t> không nhớ mình đã từng ký những </a:t>
            </a:r>
            <a:r>
              <a:rPr lang="en-US" sz="1300">
                <a:solidFill>
                  <a:srgbClr val="222833"/>
                </a:solidFill>
                <a:latin typeface="Calibri"/>
                <a:ea typeface="Calibri"/>
                <a:cs typeface="Calibri"/>
                <a:sym typeface="Calibri"/>
              </a:rPr>
              <a:t>chính sách</a:t>
            </a:r>
            <a:r>
              <a:rPr b="0" i="0" lang="en-US" sz="1300" u="none" cap="none" strike="noStrike">
                <a:solidFill>
                  <a:srgbClr val="222833"/>
                </a:solidFill>
                <a:latin typeface="Calibri"/>
                <a:ea typeface="Calibri"/>
                <a:cs typeface="Calibri"/>
                <a:sym typeface="Calibri"/>
              </a:rPr>
              <a:t> gì </a:t>
            </a:r>
            <a:r>
              <a:rPr lang="en-US" sz="1300">
                <a:solidFill>
                  <a:srgbClr val="222833"/>
                </a:solidFill>
                <a:latin typeface="Calibri"/>
                <a:ea typeface="Calibri"/>
                <a:cs typeface="Calibri"/>
                <a:sym typeface="Calibri"/>
              </a:rPr>
              <a:t>hoặc công ty cho ký nhưng user đã quên và giờ không nhớ mình cần ký những gì?</a:t>
            </a:r>
            <a:r>
              <a:rPr b="0" i="0" lang="en-US" sz="1300" u="none" cap="none" strike="noStrike">
                <a:solidFill>
                  <a:srgbClr val="22283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98" name="Google Shape;98;p4"/>
          <p:cNvSpPr/>
          <p:nvPr/>
        </p:nvSpPr>
        <p:spPr>
          <a:xfrm>
            <a:off x="548640" y="2441448"/>
            <a:ext cx="82296" cy="859536"/>
          </a:xfrm>
          <a:prstGeom prst="roundRect">
            <a:avLst>
              <a:gd fmla="val 16667" name="adj"/>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txBox="1"/>
          <p:nvPr/>
        </p:nvSpPr>
        <p:spPr>
          <a:xfrm>
            <a:off x="868680" y="2423160"/>
            <a:ext cx="274320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Phân tích &amp; làm rõ</a:t>
            </a:r>
            <a:endParaRPr b="0" i="0" sz="1300" u="none" cap="none" strike="noStrike">
              <a:solidFill>
                <a:schemeClr val="dk1"/>
              </a:solidFill>
              <a:latin typeface="Calibri"/>
              <a:ea typeface="Calibri"/>
              <a:cs typeface="Calibri"/>
              <a:sym typeface="Calibri"/>
            </a:endParaRPr>
          </a:p>
        </p:txBody>
      </p:sp>
      <p:sp>
        <p:nvSpPr>
          <p:cNvPr id="100" name="Google Shape;100;p4"/>
          <p:cNvSpPr txBox="1"/>
          <p:nvPr/>
        </p:nvSpPr>
        <p:spPr>
          <a:xfrm>
            <a:off x="3657600" y="2423160"/>
            <a:ext cx="7955280" cy="102412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833"/>
              </a:buClr>
              <a:buSzPts val="1300"/>
              <a:buFont typeface="Calibri"/>
              <a:buNone/>
            </a:pPr>
            <a:r>
              <a:rPr b="0" i="0" lang="en-US" sz="1300" u="none" cap="none" strike="noStrike">
                <a:solidFill>
                  <a:srgbClr val="222833"/>
                </a:solidFill>
                <a:latin typeface="Calibri"/>
                <a:ea typeface="Calibri"/>
                <a:cs typeface="Calibri"/>
                <a:sym typeface="Calibri"/>
              </a:rPr>
              <a:t>Qua trao đổi, </a:t>
            </a:r>
            <a:r>
              <a:rPr lang="en-US" sz="1300">
                <a:solidFill>
                  <a:srgbClr val="222833"/>
                </a:solidFill>
                <a:latin typeface="Calibri"/>
                <a:ea typeface="Calibri"/>
                <a:cs typeface="Calibri"/>
                <a:sym typeface="Calibri"/>
              </a:rPr>
              <a:t>em</a:t>
            </a:r>
            <a:r>
              <a:rPr b="0" i="0" lang="en-US" sz="1300" u="none" cap="none" strike="noStrike">
                <a:solidFill>
                  <a:srgbClr val="222833"/>
                </a:solidFill>
                <a:latin typeface="Calibri"/>
                <a:ea typeface="Calibri"/>
                <a:cs typeface="Calibri"/>
                <a:sym typeface="Calibri"/>
              </a:rPr>
              <a:t> nhận ra vấn đề thật sự không phải lỗi hệ thống, mà là user cần một cách để tự tra cứu lịch sử ký của mình </a:t>
            </a:r>
            <a:r>
              <a:rPr lang="en-US" sz="1300">
                <a:solidFill>
                  <a:srgbClr val="222833"/>
                </a:solidFill>
                <a:latin typeface="Calibri"/>
                <a:ea typeface="Calibri"/>
                <a:cs typeface="Calibri"/>
                <a:sym typeface="Calibri"/>
              </a:rPr>
              <a:t>và họ cũng có thể tự vào đây kiểm tra và ký các chính sách được yêu cầu mà họ đã lỡ bỏ sót</a:t>
            </a:r>
            <a:r>
              <a:rPr b="0" i="0" lang="en-US" sz="1300" u="none" cap="none" strike="noStrike">
                <a:solidFill>
                  <a:srgbClr val="222833"/>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01" name="Google Shape;101;p4"/>
          <p:cNvSpPr/>
          <p:nvPr/>
        </p:nvSpPr>
        <p:spPr>
          <a:xfrm>
            <a:off x="548640" y="3465576"/>
            <a:ext cx="82296" cy="859536"/>
          </a:xfrm>
          <a:prstGeom prst="roundRect">
            <a:avLst>
              <a:gd fmla="val 16667" name="adj"/>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txBox="1"/>
          <p:nvPr/>
        </p:nvSpPr>
        <p:spPr>
          <a:xfrm>
            <a:off x="868680" y="3447288"/>
            <a:ext cx="274320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Thu thập thông tin</a:t>
            </a:r>
            <a:endParaRPr b="0" i="0" sz="1300" u="none" cap="none" strike="noStrike">
              <a:solidFill>
                <a:schemeClr val="dk1"/>
              </a:solidFill>
              <a:latin typeface="Calibri"/>
              <a:ea typeface="Calibri"/>
              <a:cs typeface="Calibri"/>
              <a:sym typeface="Calibri"/>
            </a:endParaRPr>
          </a:p>
        </p:txBody>
      </p:sp>
      <p:sp>
        <p:nvSpPr>
          <p:cNvPr id="103" name="Google Shape;103;p4"/>
          <p:cNvSpPr txBox="1"/>
          <p:nvPr/>
        </p:nvSpPr>
        <p:spPr>
          <a:xfrm>
            <a:off x="3657600" y="3447288"/>
            <a:ext cx="7955280" cy="102412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833"/>
              </a:buClr>
              <a:buSzPts val="1300"/>
              <a:buFont typeface="Calibri"/>
              <a:buNone/>
            </a:pPr>
            <a:r>
              <a:rPr lang="en-US" sz="1300">
                <a:solidFill>
                  <a:srgbClr val="222833"/>
                </a:solidFill>
                <a:latin typeface="Calibri"/>
                <a:ea typeface="Calibri"/>
                <a:cs typeface="Calibri"/>
                <a:sym typeface="Calibri"/>
              </a:rPr>
              <a:t>Em đã chủ động l</a:t>
            </a:r>
            <a:r>
              <a:rPr b="0" i="0" lang="en-US" sz="1300" u="none" cap="none" strike="noStrike">
                <a:solidFill>
                  <a:srgbClr val="222833"/>
                </a:solidFill>
                <a:latin typeface="Calibri"/>
                <a:ea typeface="Calibri"/>
                <a:cs typeface="Calibri"/>
                <a:sym typeface="Calibri"/>
              </a:rPr>
              <a:t>iên hệ </a:t>
            </a:r>
            <a:r>
              <a:rPr lang="en-US" sz="1300">
                <a:solidFill>
                  <a:srgbClr val="222833"/>
                </a:solidFill>
                <a:latin typeface="Calibri"/>
                <a:ea typeface="Calibri"/>
                <a:cs typeface="Calibri"/>
                <a:sym typeface="Calibri"/>
              </a:rPr>
              <a:t>bộ phận HRD gồm nhân viên phụ trách việc cho nhân viên ký chính sách, sếp quản lý HRD và sếp quản lý trực tiếp em là HRIO</a:t>
            </a:r>
            <a:r>
              <a:rPr b="0" i="0" lang="en-US" sz="1300" u="none" cap="none" strike="noStrike">
                <a:solidFill>
                  <a:srgbClr val="222833"/>
                </a:solidFill>
                <a:latin typeface="Calibri"/>
                <a:ea typeface="Calibri"/>
                <a:cs typeface="Calibri"/>
                <a:sym typeface="Calibri"/>
              </a:rPr>
              <a:t> để tìm hiểu kỹ dữ liệu và quy trình ký điện tử trước khi thiết kế giải pháp.</a:t>
            </a:r>
            <a:endParaRPr b="0" i="0" sz="1300" u="none" cap="none" strike="noStrike">
              <a:solidFill>
                <a:schemeClr val="dk1"/>
              </a:solidFill>
              <a:latin typeface="Calibri"/>
              <a:ea typeface="Calibri"/>
              <a:cs typeface="Calibri"/>
              <a:sym typeface="Calibri"/>
            </a:endParaRPr>
          </a:p>
        </p:txBody>
      </p:sp>
      <p:sp>
        <p:nvSpPr>
          <p:cNvPr id="104" name="Google Shape;104;p4"/>
          <p:cNvSpPr/>
          <p:nvPr/>
        </p:nvSpPr>
        <p:spPr>
          <a:xfrm>
            <a:off x="548640" y="4489704"/>
            <a:ext cx="82296" cy="859536"/>
          </a:xfrm>
          <a:prstGeom prst="roundRect">
            <a:avLst>
              <a:gd fmla="val 16667" name="adj"/>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txBox="1"/>
          <p:nvPr/>
        </p:nvSpPr>
        <p:spPr>
          <a:xfrm>
            <a:off x="868680" y="4471416"/>
            <a:ext cx="274320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Giải pháp</a:t>
            </a:r>
            <a:endParaRPr b="0" i="0" sz="1300" u="none" cap="none" strike="noStrike">
              <a:solidFill>
                <a:schemeClr val="dk1"/>
              </a:solidFill>
              <a:latin typeface="Calibri"/>
              <a:ea typeface="Calibri"/>
              <a:cs typeface="Calibri"/>
              <a:sym typeface="Calibri"/>
            </a:endParaRPr>
          </a:p>
        </p:txBody>
      </p:sp>
      <p:sp>
        <p:nvSpPr>
          <p:cNvPr id="106" name="Google Shape;106;p4"/>
          <p:cNvSpPr txBox="1"/>
          <p:nvPr/>
        </p:nvSpPr>
        <p:spPr>
          <a:xfrm>
            <a:off x="3657600" y="4471416"/>
            <a:ext cx="7955280" cy="102412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833"/>
              </a:buClr>
              <a:buSzPts val="1300"/>
              <a:buFont typeface="Calibri"/>
              <a:buNone/>
            </a:pPr>
            <a:r>
              <a:rPr b="0" i="0" lang="en-US" sz="1300" u="none" cap="none" strike="noStrike">
                <a:solidFill>
                  <a:srgbClr val="222833"/>
                </a:solidFill>
                <a:latin typeface="Calibri"/>
                <a:ea typeface="Calibri"/>
                <a:cs typeface="Calibri"/>
                <a:sym typeface="Calibri"/>
              </a:rPr>
              <a:t>Lên kế hoạch: </a:t>
            </a:r>
            <a:r>
              <a:rPr lang="en-US" sz="1300">
                <a:solidFill>
                  <a:srgbClr val="222833"/>
                </a:solidFill>
                <a:latin typeface="Calibri"/>
                <a:ea typeface="Calibri"/>
                <a:cs typeface="Calibri"/>
                <a:sym typeface="Calibri"/>
              </a:rPr>
              <a:t>Xác định và phân tích dữ liệu liên quan có sẵn và dữ liệu cần thêm mới vào (Thêm trường ghi nhận loại ký chính sách vì sau trao đổi thì phát hiện thêm sẽ có những trường hợp ký tay sẽ được quản lý qua hệ thống luôn)</a:t>
            </a:r>
            <a:r>
              <a:rPr b="0" i="0" lang="en-US" sz="1300" u="none" cap="none" strike="noStrike">
                <a:solidFill>
                  <a:srgbClr val="222833"/>
                </a:solidFill>
                <a:latin typeface="Calibri"/>
                <a:ea typeface="Calibri"/>
                <a:cs typeface="Calibri"/>
                <a:sym typeface="Calibri"/>
              </a:rPr>
              <a:t> </a:t>
            </a:r>
            <a:endParaRPr b="0" i="0" sz="1300" u="none" cap="none" strike="noStrike">
              <a:solidFill>
                <a:srgbClr val="222833"/>
              </a:solidFill>
              <a:latin typeface="Calibri"/>
              <a:ea typeface="Calibri"/>
              <a:cs typeface="Calibri"/>
              <a:sym typeface="Calibri"/>
            </a:endParaRPr>
          </a:p>
          <a:p>
            <a:pPr indent="0" lvl="0" marL="0" marR="0" rtl="0" algn="l">
              <a:lnSpc>
                <a:spcPct val="120000"/>
              </a:lnSpc>
              <a:spcBef>
                <a:spcPts val="0"/>
              </a:spcBef>
              <a:spcAft>
                <a:spcPts val="0"/>
              </a:spcAft>
              <a:buClr>
                <a:srgbClr val="222833"/>
              </a:buClr>
              <a:buSzPts val="1300"/>
              <a:buFont typeface="Calibri"/>
              <a:buNone/>
            </a:pPr>
            <a:r>
              <a:rPr b="0" i="0" lang="en-US" sz="1300" u="none" cap="none" strike="noStrike">
                <a:solidFill>
                  <a:srgbClr val="222833"/>
                </a:solidFill>
                <a:latin typeface="Calibri"/>
                <a:ea typeface="Calibri"/>
                <a:cs typeface="Calibri"/>
                <a:sym typeface="Calibri"/>
              </a:rPr>
              <a:t>và </a:t>
            </a:r>
            <a:r>
              <a:rPr lang="en-US" sz="1300">
                <a:solidFill>
                  <a:srgbClr val="222833"/>
                </a:solidFill>
                <a:latin typeface="Calibri"/>
                <a:ea typeface="Calibri"/>
                <a:cs typeface="Calibri"/>
                <a:sym typeface="Calibri"/>
              </a:rPr>
              <a:t>thiết kế mẫu giao diện</a:t>
            </a:r>
            <a:r>
              <a:rPr b="0" i="0" lang="en-US" sz="1300" u="none" cap="none" strike="noStrike">
                <a:solidFill>
                  <a:srgbClr val="222833"/>
                </a:solidFill>
                <a:latin typeface="Calibri"/>
                <a:ea typeface="Calibri"/>
                <a:cs typeface="Calibri"/>
                <a:sym typeface="Calibri"/>
              </a:rPr>
              <a:t> màn hình lịch sử ký chính sách, cho phép mọi người tự tra cứu.</a:t>
            </a:r>
            <a:endParaRPr b="0" i="0" sz="1300" u="none" cap="none" strike="noStrike">
              <a:solidFill>
                <a:schemeClr val="dk1"/>
              </a:solidFill>
              <a:latin typeface="Calibri"/>
              <a:ea typeface="Calibri"/>
              <a:cs typeface="Calibri"/>
              <a:sym typeface="Calibri"/>
            </a:endParaRPr>
          </a:p>
        </p:txBody>
      </p:sp>
      <p:sp>
        <p:nvSpPr>
          <p:cNvPr id="107" name="Google Shape;107;p4"/>
          <p:cNvSpPr/>
          <p:nvPr/>
        </p:nvSpPr>
        <p:spPr>
          <a:xfrm>
            <a:off x="548640" y="5559552"/>
            <a:ext cx="11064240" cy="685800"/>
          </a:xfrm>
          <a:prstGeom prst="roundRect">
            <a:avLst>
              <a:gd fmla="val 10667"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txBox="1"/>
          <p:nvPr/>
        </p:nvSpPr>
        <p:spPr>
          <a:xfrm>
            <a:off x="868680" y="5559552"/>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1" i="0" lang="en-US" sz="1300" u="none" cap="none" strike="noStrike">
                <a:solidFill>
                  <a:srgbClr val="CADCFC"/>
                </a:solidFill>
                <a:latin typeface="Calibri"/>
                <a:ea typeface="Calibri"/>
                <a:cs typeface="Calibri"/>
                <a:sym typeface="Calibri"/>
              </a:rPr>
              <a:t>Kết quả:  </a:t>
            </a:r>
            <a:r>
              <a:rPr i="1" lang="en-US" sz="1300">
                <a:solidFill>
                  <a:srgbClr val="FFFFFF"/>
                </a:solidFill>
                <a:latin typeface="Calibri"/>
                <a:ea typeface="Calibri"/>
                <a:cs typeface="Calibri"/>
                <a:sym typeface="Calibri"/>
              </a:rPr>
              <a:t>đã triển khai</a:t>
            </a:r>
            <a:r>
              <a:rPr b="0" i="1" lang="en-US" sz="1300" u="none" cap="none" strike="noStrike">
                <a:solidFill>
                  <a:srgbClr val="FFFFFF"/>
                </a:solidFill>
                <a:latin typeface="Calibri"/>
                <a:ea typeface="Calibri"/>
                <a:cs typeface="Calibri"/>
                <a:sym typeface="Calibri"/>
              </a:rPr>
              <a:t> — tác động: </a:t>
            </a:r>
            <a:r>
              <a:rPr i="1" lang="en-US" sz="1300">
                <a:solidFill>
                  <a:srgbClr val="FFFFFF"/>
                </a:solidFill>
                <a:latin typeface="Calibri"/>
                <a:ea typeface="Calibri"/>
                <a:cs typeface="Calibri"/>
                <a:sym typeface="Calibri"/>
              </a:rPr>
              <a:t>đã </a:t>
            </a:r>
            <a:r>
              <a:rPr b="0" i="1" lang="en-US" sz="1300" u="none" cap="none" strike="noStrike">
                <a:solidFill>
                  <a:srgbClr val="FFFFFF"/>
                </a:solidFill>
                <a:latin typeface="Calibri"/>
                <a:ea typeface="Calibri"/>
                <a:cs typeface="Calibri"/>
                <a:sym typeface="Calibri"/>
              </a:rPr>
              <a:t>giảm số lần user </a:t>
            </a:r>
            <a:r>
              <a:rPr i="1" lang="en-US" sz="1300">
                <a:solidFill>
                  <a:srgbClr val="FFFFFF"/>
                </a:solidFill>
                <a:latin typeface="Calibri"/>
                <a:ea typeface="Calibri"/>
                <a:cs typeface="Calibri"/>
                <a:sym typeface="Calibri"/>
              </a:rPr>
              <a:t>ở xưởng</a:t>
            </a:r>
            <a:r>
              <a:rPr b="0" i="1" lang="en-US" sz="1300" u="none" cap="none" strike="noStrike">
                <a:solidFill>
                  <a:srgbClr val="FFFFFF"/>
                </a:solidFill>
                <a:latin typeface="Calibri"/>
                <a:ea typeface="Calibri"/>
                <a:cs typeface="Calibri"/>
                <a:sym typeface="Calibri"/>
              </a:rPr>
              <a:t> </a:t>
            </a:r>
            <a:r>
              <a:rPr i="1" lang="en-US" sz="1300">
                <a:solidFill>
                  <a:srgbClr val="FFFFFF"/>
                </a:solidFill>
                <a:latin typeface="Calibri"/>
                <a:ea typeface="Calibri"/>
                <a:cs typeface="Calibri"/>
                <a:sym typeface="Calibri"/>
              </a:rPr>
              <a:t>gọi điện</a:t>
            </a:r>
            <a:r>
              <a:rPr b="0" i="1" lang="en-US" sz="1300" u="none" cap="none" strike="noStrike">
                <a:solidFill>
                  <a:srgbClr val="FFFFFF"/>
                </a:solidFill>
                <a:latin typeface="Calibri"/>
                <a:ea typeface="Calibri"/>
                <a:cs typeface="Calibri"/>
                <a:sym typeface="Calibri"/>
              </a:rPr>
              <a:t> hỏi lại HR, phục vụ tra cứu &amp; </a:t>
            </a:r>
            <a:r>
              <a:rPr i="1" lang="en-US" sz="1300">
                <a:solidFill>
                  <a:srgbClr val="FFFFFF"/>
                </a:solidFill>
                <a:latin typeface="Calibri"/>
                <a:ea typeface="Calibri"/>
                <a:cs typeface="Calibri"/>
                <a:sym typeface="Calibri"/>
              </a:rPr>
              <a:t>và ký các chính sách</a:t>
            </a:r>
            <a:r>
              <a:rPr b="0" i="1" lang="en-US" sz="1300" u="none" cap="none" strike="noStrike">
                <a:solidFill>
                  <a:srgbClr val="FFFFFF"/>
                </a:solidFill>
                <a:latin typeface="Calibri"/>
                <a:ea typeface="Calibri"/>
                <a:cs typeface="Calibri"/>
                <a:sym typeface="Calibri"/>
              </a:rPr>
              <a:t> tuân thủ </a:t>
            </a:r>
            <a:r>
              <a:rPr i="1" lang="en-US" sz="1300">
                <a:solidFill>
                  <a:srgbClr val="FFFFFF"/>
                </a:solidFill>
                <a:latin typeface="Calibri"/>
                <a:ea typeface="Calibri"/>
                <a:cs typeface="Calibri"/>
                <a:sym typeface="Calibri"/>
              </a:rPr>
              <a:t>mới.</a:t>
            </a:r>
            <a:endParaRPr b="0" i="0" sz="1300" u="none" cap="none" strike="noStrike">
              <a:solidFill>
                <a:schemeClr val="dk1"/>
              </a:solidFill>
              <a:latin typeface="Calibri"/>
              <a:ea typeface="Calibri"/>
              <a:cs typeface="Calibri"/>
              <a:sym typeface="Calibri"/>
            </a:endParaRPr>
          </a:p>
        </p:txBody>
      </p:sp>
      <p:sp>
        <p:nvSpPr>
          <p:cNvPr id="109" name="Google Shape;109;p4"/>
          <p:cNvSpPr/>
          <p:nvPr/>
        </p:nvSpPr>
        <p:spPr>
          <a:xfrm>
            <a:off x="11475720" y="644652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b="0" i="0" lang="en-US" sz="1000" u="none" cap="none" strike="noStrike">
                <a:solidFill>
                  <a:srgbClr val="5B6478"/>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8b99eca1af_0_0"/>
          <p:cNvSpPr txBox="1"/>
          <p:nvPr/>
        </p:nvSpPr>
        <p:spPr>
          <a:xfrm>
            <a:off x="548640" y="365760"/>
            <a:ext cx="5486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FE"/>
              </a:buClr>
              <a:buSzPts val="1300"/>
              <a:buFont typeface="Calibri"/>
              <a:buNone/>
            </a:pPr>
            <a:r>
              <a:rPr b="1" i="0" lang="en-US" sz="1300" u="none" cap="none" strike="noStrike">
                <a:solidFill>
                  <a:srgbClr val="3D5AFE"/>
                </a:solidFill>
                <a:latin typeface="Calibri"/>
                <a:ea typeface="Calibri"/>
                <a:cs typeface="Calibri"/>
                <a:sym typeface="Calibri"/>
              </a:rPr>
              <a:t>Case study 1</a:t>
            </a:r>
            <a:endParaRPr b="0" i="0" sz="1300" u="none" cap="none" strike="noStrike">
              <a:solidFill>
                <a:schemeClr val="dk1"/>
              </a:solidFill>
              <a:latin typeface="Calibri"/>
              <a:ea typeface="Calibri"/>
              <a:cs typeface="Calibri"/>
              <a:sym typeface="Calibri"/>
            </a:endParaRPr>
          </a:p>
        </p:txBody>
      </p:sp>
      <p:sp>
        <p:nvSpPr>
          <p:cNvPr id="116" name="Google Shape;116;g38b99eca1af_0_0"/>
          <p:cNvSpPr txBox="1"/>
          <p:nvPr/>
        </p:nvSpPr>
        <p:spPr>
          <a:xfrm>
            <a:off x="548640" y="658368"/>
            <a:ext cx="10515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2600"/>
              <a:buFont typeface="Cambria"/>
              <a:buNone/>
            </a:pPr>
            <a:r>
              <a:rPr b="1" lang="en-US" sz="2600">
                <a:solidFill>
                  <a:srgbClr val="222833"/>
                </a:solidFill>
                <a:latin typeface="Cambria"/>
                <a:ea typeface="Cambria"/>
                <a:cs typeface="Cambria"/>
                <a:sym typeface="Cambria"/>
              </a:rPr>
              <a:t>Màn hình kết quả</a:t>
            </a:r>
            <a:endParaRPr b="0" i="0" sz="2600" u="none" cap="none" strike="noStrike">
              <a:solidFill>
                <a:schemeClr val="dk1"/>
              </a:solidFill>
              <a:latin typeface="Calibri"/>
              <a:ea typeface="Calibri"/>
              <a:cs typeface="Calibri"/>
              <a:sym typeface="Calibri"/>
            </a:endParaRPr>
          </a:p>
        </p:txBody>
      </p:sp>
      <p:pic>
        <p:nvPicPr>
          <p:cNvPr id="117" name="Google Shape;117;g38b99eca1af_0_0"/>
          <p:cNvPicPr preferRelativeResize="0"/>
          <p:nvPr/>
        </p:nvPicPr>
        <p:blipFill>
          <a:blip r:embed="rId3">
            <a:alphaModFix/>
          </a:blip>
          <a:stretch>
            <a:fillRect/>
          </a:stretch>
        </p:blipFill>
        <p:spPr>
          <a:xfrm>
            <a:off x="6660550" y="1421825"/>
            <a:ext cx="5424076" cy="2947099"/>
          </a:xfrm>
          <a:prstGeom prst="rect">
            <a:avLst/>
          </a:prstGeom>
          <a:noFill/>
          <a:ln>
            <a:noFill/>
          </a:ln>
        </p:spPr>
      </p:pic>
      <p:cxnSp>
        <p:nvCxnSpPr>
          <p:cNvPr id="118" name="Google Shape;118;g38b99eca1af_0_0"/>
          <p:cNvCxnSpPr>
            <a:stCxn id="119" idx="3"/>
            <a:endCxn id="117" idx="1"/>
          </p:cNvCxnSpPr>
          <p:nvPr/>
        </p:nvCxnSpPr>
        <p:spPr>
          <a:xfrm>
            <a:off x="5912350" y="2895375"/>
            <a:ext cx="748200" cy="0"/>
          </a:xfrm>
          <a:prstGeom prst="straightConnector1">
            <a:avLst/>
          </a:prstGeom>
          <a:noFill/>
          <a:ln cap="flat" cmpd="sng" w="9525">
            <a:solidFill>
              <a:schemeClr val="dk2"/>
            </a:solidFill>
            <a:prstDash val="solid"/>
            <a:round/>
            <a:headEnd len="med" w="med" type="none"/>
            <a:tailEnd len="med" w="med" type="triangle"/>
          </a:ln>
        </p:spPr>
      </p:cxnSp>
      <p:sp>
        <p:nvSpPr>
          <p:cNvPr id="120" name="Google Shape;120;g38b99eca1af_0_0"/>
          <p:cNvSpPr txBox="1"/>
          <p:nvPr/>
        </p:nvSpPr>
        <p:spPr>
          <a:xfrm>
            <a:off x="548650" y="5372400"/>
            <a:ext cx="11535900" cy="129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833"/>
              </a:buClr>
              <a:buSzPts val="2600"/>
              <a:buFont typeface="Cambria"/>
              <a:buNone/>
            </a:pPr>
            <a:r>
              <a:rPr lang="en-US" sz="1300">
                <a:solidFill>
                  <a:srgbClr val="222833"/>
                </a:solidFill>
                <a:latin typeface="Cambria"/>
                <a:ea typeface="Cambria"/>
                <a:cs typeface="Cambria"/>
                <a:sym typeface="Cambria"/>
              </a:rPr>
              <a:t>Qua phân tích em đã chủ động đề xuất tận dụng lại màn hình hiển thị chi tiết file chính sách để làm màn hình quản lý, sau này dễ mở rộng cho các nhà máy khác khi cần tránh lãng phí màn hình chỉ làm đúng 1 nhiệm vụ hiển thị chi tiết chính sách.</a:t>
            </a:r>
            <a:endParaRPr sz="1300">
              <a:solidFill>
                <a:srgbClr val="222833"/>
              </a:solidFill>
              <a:latin typeface="Cambria"/>
              <a:ea typeface="Cambria"/>
              <a:cs typeface="Cambria"/>
              <a:sym typeface="Cambria"/>
            </a:endParaRPr>
          </a:p>
          <a:p>
            <a:pPr indent="0" lvl="0" marL="0" marR="0" rtl="0" algn="l">
              <a:spcBef>
                <a:spcPts val="0"/>
              </a:spcBef>
              <a:spcAft>
                <a:spcPts val="0"/>
              </a:spcAft>
              <a:buClr>
                <a:srgbClr val="222833"/>
              </a:buClr>
              <a:buSzPts val="2600"/>
              <a:buFont typeface="Cambria"/>
              <a:buNone/>
            </a:pPr>
            <a:r>
              <a:t/>
            </a:r>
            <a:endParaRPr sz="1300">
              <a:solidFill>
                <a:srgbClr val="222833"/>
              </a:solidFill>
              <a:latin typeface="Cambria"/>
              <a:ea typeface="Cambria"/>
              <a:cs typeface="Cambria"/>
              <a:sym typeface="Cambria"/>
            </a:endParaRPr>
          </a:p>
          <a:p>
            <a:pPr indent="0" lvl="0" marL="0" marR="0" rtl="0" algn="l">
              <a:spcBef>
                <a:spcPts val="0"/>
              </a:spcBef>
              <a:spcAft>
                <a:spcPts val="0"/>
              </a:spcAft>
              <a:buClr>
                <a:srgbClr val="222833"/>
              </a:buClr>
              <a:buSzPts val="2600"/>
              <a:buFont typeface="Cambria"/>
              <a:buNone/>
            </a:pPr>
            <a:r>
              <a:rPr lang="en-US" sz="1300">
                <a:solidFill>
                  <a:srgbClr val="222833"/>
                </a:solidFill>
                <a:latin typeface="Cambria"/>
                <a:ea typeface="Cambria"/>
                <a:cs typeface="Cambria"/>
                <a:sym typeface="Cambria"/>
              </a:rPr>
              <a:t>*Kết quả =&gt; Sau hoàn thành sếp đã đề xuất mở rộng cho các nhà máy trong tập đoàn ký và hiện đã đạt 6/7 nhà máy đã ký và hoạt động ổn định tần suất user gọi điện thắc mắc đã gần như không còn sau khi triển khai và đào tạo.</a:t>
            </a:r>
            <a:endParaRPr sz="1300">
              <a:solidFill>
                <a:srgbClr val="222833"/>
              </a:solidFill>
              <a:latin typeface="Cambria"/>
              <a:ea typeface="Cambria"/>
              <a:cs typeface="Cambria"/>
              <a:sym typeface="Cambria"/>
            </a:endParaRPr>
          </a:p>
        </p:txBody>
      </p:sp>
      <p:pic>
        <p:nvPicPr>
          <p:cNvPr id="121" name="Google Shape;121;g38b99eca1af_0_0"/>
          <p:cNvPicPr preferRelativeResize="0"/>
          <p:nvPr/>
        </p:nvPicPr>
        <p:blipFill>
          <a:blip r:embed="rId4">
            <a:alphaModFix/>
          </a:blip>
          <a:stretch>
            <a:fillRect/>
          </a:stretch>
        </p:blipFill>
        <p:spPr>
          <a:xfrm>
            <a:off x="290950" y="1421825"/>
            <a:ext cx="5621475" cy="2947100"/>
          </a:xfrm>
          <a:prstGeom prst="rect">
            <a:avLst/>
          </a:prstGeom>
          <a:noFill/>
          <a:ln>
            <a:noFill/>
          </a:ln>
        </p:spPr>
      </p:pic>
      <p:sp>
        <p:nvSpPr>
          <p:cNvPr id="122" name="Google Shape;122;g38b99eca1af_0_0"/>
          <p:cNvSpPr/>
          <p:nvPr/>
        </p:nvSpPr>
        <p:spPr>
          <a:xfrm>
            <a:off x="11475720" y="644652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lang="en-US" sz="1000">
                <a:solidFill>
                  <a:srgbClr val="5B6478"/>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5"/>
          <p:cNvSpPr txBox="1"/>
          <p:nvPr/>
        </p:nvSpPr>
        <p:spPr>
          <a:xfrm>
            <a:off x="548640" y="365760"/>
            <a:ext cx="5486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FE"/>
              </a:buClr>
              <a:buSzPts val="1300"/>
              <a:buFont typeface="Calibri"/>
              <a:buNone/>
            </a:pPr>
            <a:r>
              <a:rPr b="1" i="0" lang="en-US" sz="1300" u="none" cap="none" strike="noStrike">
                <a:solidFill>
                  <a:srgbClr val="3D5AFE"/>
                </a:solidFill>
                <a:latin typeface="Calibri"/>
                <a:ea typeface="Calibri"/>
                <a:cs typeface="Calibri"/>
                <a:sym typeface="Calibri"/>
              </a:rPr>
              <a:t>Case study 2</a:t>
            </a:r>
            <a:endParaRPr b="0" i="0" sz="1300" u="none" cap="none" strike="noStrike">
              <a:solidFill>
                <a:schemeClr val="dk1"/>
              </a:solidFill>
              <a:latin typeface="Calibri"/>
              <a:ea typeface="Calibri"/>
              <a:cs typeface="Calibri"/>
              <a:sym typeface="Calibri"/>
            </a:endParaRPr>
          </a:p>
        </p:txBody>
      </p:sp>
      <p:sp>
        <p:nvSpPr>
          <p:cNvPr id="129" name="Google Shape;129;p5"/>
          <p:cNvSpPr txBox="1"/>
          <p:nvPr/>
        </p:nvSpPr>
        <p:spPr>
          <a:xfrm>
            <a:off x="548640" y="658368"/>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2600"/>
              <a:buFont typeface="Cambria"/>
              <a:buNone/>
            </a:pPr>
            <a:r>
              <a:rPr b="1" i="0" lang="en-US" sz="2600" u="none" cap="none" strike="noStrike">
                <a:solidFill>
                  <a:srgbClr val="222833"/>
                </a:solidFill>
                <a:latin typeface="Cambria"/>
                <a:ea typeface="Cambria"/>
                <a:cs typeface="Cambria"/>
                <a:sym typeface="Cambria"/>
              </a:rPr>
              <a:t>Tối ưu báo cáo dashboard chậm &amp; hay timeout</a:t>
            </a:r>
            <a:endParaRPr b="0" i="0" sz="2600" u="none" cap="none" strike="noStrike">
              <a:solidFill>
                <a:schemeClr val="dk1"/>
              </a:solidFill>
              <a:latin typeface="Calibri"/>
              <a:ea typeface="Calibri"/>
              <a:cs typeface="Calibri"/>
              <a:sym typeface="Calibri"/>
            </a:endParaRPr>
          </a:p>
        </p:txBody>
      </p:sp>
      <p:sp>
        <p:nvSpPr>
          <p:cNvPr id="130" name="Google Shape;130;p5"/>
          <p:cNvSpPr txBox="1"/>
          <p:nvPr/>
        </p:nvSpPr>
        <p:spPr>
          <a:xfrm>
            <a:off x="548640" y="1508760"/>
            <a:ext cx="6309360" cy="42062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Vấn đề: </a:t>
            </a:r>
            <a:r>
              <a:rPr b="0" i="0" lang="en-US" sz="1400" u="none" cap="none" strike="noStrike">
                <a:solidFill>
                  <a:srgbClr val="222833"/>
                </a:solidFill>
                <a:latin typeface="Calibri"/>
                <a:ea typeface="Calibri"/>
                <a:cs typeface="Calibri"/>
                <a:sym typeface="Calibri"/>
              </a:rPr>
              <a:t>user phàn nàn một báo cáo dashboard </a:t>
            </a:r>
            <a:r>
              <a:rPr lang="en-US">
                <a:solidFill>
                  <a:srgbClr val="222833"/>
                </a:solidFill>
                <a:latin typeface="Calibri"/>
                <a:ea typeface="Calibri"/>
                <a:cs typeface="Calibri"/>
                <a:sym typeface="Calibri"/>
              </a:rPr>
              <a:t>với dữ liệu sum tính toán lớn</a:t>
            </a:r>
            <a:r>
              <a:rPr b="0" i="0" lang="en-US" sz="1400" u="none" cap="none" strike="noStrike">
                <a:solidFill>
                  <a:srgbClr val="222833"/>
                </a:solidFill>
                <a:latin typeface="Calibri"/>
                <a:ea typeface="Calibri"/>
                <a:cs typeface="Calibri"/>
                <a:sym typeface="Calibri"/>
              </a:rPr>
              <a:t> chạy quá chậm, có lúc mất tới 15 phút hoặc bị timeout </a:t>
            </a:r>
            <a:r>
              <a:rPr lang="en-US">
                <a:solidFill>
                  <a:srgbClr val="222833"/>
                </a:solidFill>
                <a:latin typeface="Calibri"/>
                <a:ea typeface="Calibri"/>
                <a:cs typeface="Calibri"/>
                <a:sym typeface="Calibri"/>
              </a:rPr>
              <a:t>khiến user không thể làm báo cáo đúng tiến độ</a:t>
            </a:r>
            <a:r>
              <a:rPr b="0" i="0" lang="en-US" sz="1400" u="none" cap="none" strike="noStrike">
                <a:solidFill>
                  <a:srgbClr val="222833"/>
                </a:solidFill>
                <a:latin typeface="Calibri"/>
                <a:ea typeface="Calibri"/>
                <a:cs typeface="Calibri"/>
                <a:sym typeface="Calibri"/>
              </a:rPr>
              <a:t>.</a:t>
            </a:r>
            <a:br>
              <a:rPr b="0" i="0" lang="en-US" sz="1400" u="none" cap="none" strike="noStrike">
                <a:solidFill>
                  <a:srgbClr val="222833"/>
                </a:solidFill>
                <a:latin typeface="Calibri"/>
                <a:ea typeface="Calibri"/>
                <a:cs typeface="Calibri"/>
                <a:sym typeface="Calibri"/>
              </a:rPr>
            </a:br>
            <a:br>
              <a:rPr b="0" i="0" lang="en-US" sz="1400" u="none" cap="none" strike="noStrike">
                <a:solidFill>
                  <a:srgbClr val="222833"/>
                </a:solidFill>
                <a:latin typeface="Calibri"/>
                <a:ea typeface="Calibri"/>
                <a:cs typeface="Calibri"/>
                <a:sym typeface="Calibri"/>
              </a:rPr>
            </a:br>
            <a:r>
              <a:rPr b="1" i="0" lang="en-US" sz="1400" u="none" cap="none" strike="noStrike">
                <a:solidFill>
                  <a:srgbClr val="1E2761"/>
                </a:solidFill>
                <a:latin typeface="Calibri"/>
                <a:ea typeface="Calibri"/>
                <a:cs typeface="Calibri"/>
                <a:sym typeface="Calibri"/>
              </a:rPr>
              <a:t>Làm rõ: </a:t>
            </a:r>
            <a:r>
              <a:rPr b="0" i="0" lang="en-US" sz="1400" u="none" cap="none" strike="noStrike">
                <a:solidFill>
                  <a:srgbClr val="222833"/>
                </a:solidFill>
                <a:latin typeface="Calibri"/>
                <a:ea typeface="Calibri"/>
                <a:cs typeface="Calibri"/>
                <a:sym typeface="Calibri"/>
              </a:rPr>
              <a:t>chủ động hỏi lại user </a:t>
            </a:r>
            <a:r>
              <a:rPr lang="en-US">
                <a:solidFill>
                  <a:srgbClr val="222833"/>
                </a:solidFill>
                <a:latin typeface="Calibri"/>
                <a:ea typeface="Calibri"/>
                <a:cs typeface="Calibri"/>
                <a:sym typeface="Calibri"/>
              </a:rPr>
              <a:t>và sếp HRD</a:t>
            </a:r>
            <a:r>
              <a:rPr b="0" i="0" lang="en-US" sz="1400" u="none" cap="none" strike="noStrike">
                <a:solidFill>
                  <a:srgbClr val="222833"/>
                </a:solidFill>
                <a:latin typeface="Calibri"/>
                <a:ea typeface="Calibri"/>
                <a:cs typeface="Calibri"/>
                <a:sym typeface="Calibri"/>
              </a:rPr>
              <a:t> về tần suất dùng </a:t>
            </a:r>
            <a:r>
              <a:rPr lang="en-US">
                <a:solidFill>
                  <a:srgbClr val="222833"/>
                </a:solidFill>
                <a:latin typeface="Calibri"/>
                <a:ea typeface="Calibri"/>
                <a:cs typeface="Calibri"/>
                <a:sym typeface="Calibri"/>
              </a:rPr>
              <a:t>và hiện có những bộ phận hay nhân viên nào cần dùng ở mức độ quan trọng</a:t>
            </a:r>
            <a:r>
              <a:rPr b="0" i="0" lang="en-US" sz="1400" u="none" cap="none" strike="noStrike">
                <a:solidFill>
                  <a:srgbClr val="222833"/>
                </a:solidFill>
                <a:latin typeface="Calibri"/>
                <a:ea typeface="Calibri"/>
                <a:cs typeface="Calibri"/>
                <a:sym typeface="Calibri"/>
              </a:rPr>
              <a:t>, dữ liệu cụ thể, mức độ ảnh hưởng đến công việc trước khi đi vào kỹ thuật.</a:t>
            </a:r>
            <a:br>
              <a:rPr b="0" i="0" lang="en-US" sz="1400" u="none" cap="none" strike="noStrike">
                <a:solidFill>
                  <a:srgbClr val="222833"/>
                </a:solidFill>
                <a:latin typeface="Calibri"/>
                <a:ea typeface="Calibri"/>
                <a:cs typeface="Calibri"/>
                <a:sym typeface="Calibri"/>
              </a:rPr>
            </a:br>
            <a:br>
              <a:rPr b="0" i="0" lang="en-US" sz="1400" u="none" cap="none" strike="noStrike">
                <a:solidFill>
                  <a:srgbClr val="222833"/>
                </a:solidFill>
                <a:latin typeface="Calibri"/>
                <a:ea typeface="Calibri"/>
                <a:cs typeface="Calibri"/>
                <a:sym typeface="Calibri"/>
              </a:rPr>
            </a:br>
            <a:r>
              <a:rPr b="1" i="0" lang="en-US" sz="1400" u="none" cap="none" strike="noStrike">
                <a:solidFill>
                  <a:srgbClr val="1E2761"/>
                </a:solidFill>
                <a:latin typeface="Calibri"/>
                <a:ea typeface="Calibri"/>
                <a:cs typeface="Calibri"/>
                <a:sym typeface="Calibri"/>
              </a:rPr>
              <a:t>Xử lý:</a:t>
            </a:r>
            <a:r>
              <a:rPr b="1" lang="en-US">
                <a:solidFill>
                  <a:srgbClr val="1E2761"/>
                </a:solidFill>
                <a:latin typeface="Calibri"/>
                <a:ea typeface="Calibri"/>
                <a:cs typeface="Calibri"/>
                <a:sym typeface="Calibri"/>
              </a:rPr>
              <a:t> </a:t>
            </a:r>
            <a:r>
              <a:rPr lang="en-US">
                <a:solidFill>
                  <a:srgbClr val="1E2761"/>
                </a:solidFill>
                <a:latin typeface="Calibri"/>
                <a:ea typeface="Calibri"/>
                <a:cs typeface="Calibri"/>
                <a:sym typeface="Calibri"/>
              </a:rPr>
              <a:t>Phân tích kiểm tra log error xem có lỗi tác động, Kiểm tra lại dữ liệu đang dùng để lấy báo cáo, xác định nguyên nhân lỗi và báo với user hiểu rõ, tiến hành tối ưu lại truy vấn dữ liệu.</a:t>
            </a:r>
            <a:endParaRPr i="0" sz="1400" u="none" cap="none" strike="noStrike">
              <a:solidFill>
                <a:schemeClr val="dk1"/>
              </a:solidFill>
              <a:latin typeface="Calibri"/>
              <a:ea typeface="Calibri"/>
              <a:cs typeface="Calibri"/>
              <a:sym typeface="Calibri"/>
            </a:endParaRPr>
          </a:p>
        </p:txBody>
      </p:sp>
      <p:sp>
        <p:nvSpPr>
          <p:cNvPr id="131" name="Google Shape;131;p5"/>
          <p:cNvSpPr/>
          <p:nvPr/>
        </p:nvSpPr>
        <p:spPr>
          <a:xfrm>
            <a:off x="7178040" y="1600200"/>
            <a:ext cx="4434840" cy="4023360"/>
          </a:xfrm>
          <a:prstGeom prst="roundRect">
            <a:avLst>
              <a:gd fmla="val 2273"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txBox="1"/>
          <p:nvPr/>
        </p:nvSpPr>
        <p:spPr>
          <a:xfrm>
            <a:off x="7498080" y="1828800"/>
            <a:ext cx="3794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8"/>
              </a:buClr>
              <a:buSzPts val="1100"/>
              <a:buFont typeface="Calibri"/>
              <a:buNone/>
            </a:pPr>
            <a:r>
              <a:rPr b="1" i="0" lang="en-US" sz="1100" u="none" cap="none" strike="noStrike">
                <a:solidFill>
                  <a:srgbClr val="5B6478"/>
                </a:solidFill>
                <a:latin typeface="Calibri"/>
                <a:ea typeface="Calibri"/>
                <a:cs typeface="Calibri"/>
                <a:sym typeface="Calibri"/>
              </a:rPr>
              <a:t>THỜI GIAN TRUY XUẤT DỮ LIỆU</a:t>
            </a:r>
            <a:endParaRPr b="0" i="0" sz="1100" u="none" cap="none" strike="noStrike">
              <a:solidFill>
                <a:schemeClr val="dk1"/>
              </a:solidFill>
              <a:latin typeface="Calibri"/>
              <a:ea typeface="Calibri"/>
              <a:cs typeface="Calibri"/>
              <a:sym typeface="Calibri"/>
            </a:endParaRPr>
          </a:p>
        </p:txBody>
      </p:sp>
      <p:sp>
        <p:nvSpPr>
          <p:cNvPr id="133" name="Google Shape;133;p5"/>
          <p:cNvSpPr txBox="1"/>
          <p:nvPr/>
        </p:nvSpPr>
        <p:spPr>
          <a:xfrm>
            <a:off x="7498080" y="2240280"/>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3B5"/>
              </a:buClr>
              <a:buSzPts val="4000"/>
              <a:buFont typeface="Cambria"/>
              <a:buNone/>
            </a:pPr>
            <a:r>
              <a:rPr b="1" i="0" lang="en-US" sz="4000" u="none" cap="none" strike="noStrike">
                <a:solidFill>
                  <a:srgbClr val="9AA3B5"/>
                </a:solidFill>
                <a:latin typeface="Cambria"/>
                <a:ea typeface="Cambria"/>
                <a:cs typeface="Cambria"/>
                <a:sym typeface="Cambria"/>
              </a:rPr>
              <a:t>15 phút</a:t>
            </a:r>
            <a:endParaRPr b="0" i="0" sz="4000" u="none" cap="none" strike="noStrike">
              <a:solidFill>
                <a:schemeClr val="dk1"/>
              </a:solidFill>
              <a:latin typeface="Calibri"/>
              <a:ea typeface="Calibri"/>
              <a:cs typeface="Calibri"/>
              <a:sym typeface="Calibri"/>
            </a:endParaRPr>
          </a:p>
        </p:txBody>
      </p:sp>
      <p:sp>
        <p:nvSpPr>
          <p:cNvPr id="134" name="Google Shape;134;p5"/>
          <p:cNvSpPr txBox="1"/>
          <p:nvPr/>
        </p:nvSpPr>
        <p:spPr>
          <a:xfrm>
            <a:off x="7498080" y="2999232"/>
            <a:ext cx="3794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8"/>
              </a:buClr>
              <a:buSzPts val="1150"/>
              <a:buFont typeface="Calibri"/>
              <a:buNone/>
            </a:pPr>
            <a:r>
              <a:rPr b="0" i="0" lang="en-US" sz="1150" u="none" cap="none" strike="noStrike">
                <a:solidFill>
                  <a:srgbClr val="5B6478"/>
                </a:solidFill>
                <a:latin typeface="Calibri"/>
                <a:ea typeface="Calibri"/>
                <a:cs typeface="Calibri"/>
                <a:sym typeface="Calibri"/>
              </a:rPr>
              <a:t>Trước — có lúc bị timeout</a:t>
            </a:r>
            <a:endParaRPr b="0" i="0" sz="1150" u="none" cap="none" strike="noStrike">
              <a:solidFill>
                <a:schemeClr val="dk1"/>
              </a:solidFill>
              <a:latin typeface="Calibri"/>
              <a:ea typeface="Calibri"/>
              <a:cs typeface="Calibri"/>
              <a:sym typeface="Calibri"/>
            </a:endParaRPr>
          </a:p>
        </p:txBody>
      </p:sp>
      <p:cxnSp>
        <p:nvCxnSpPr>
          <p:cNvPr id="135" name="Google Shape;135;p5"/>
          <p:cNvCxnSpPr/>
          <p:nvPr/>
        </p:nvCxnSpPr>
        <p:spPr>
          <a:xfrm>
            <a:off x="7498080" y="3520440"/>
            <a:ext cx="3794760" cy="0"/>
          </a:xfrm>
          <a:prstGeom prst="straightConnector1">
            <a:avLst/>
          </a:prstGeom>
          <a:noFill/>
          <a:ln cap="flat" cmpd="sng" w="12700">
            <a:solidFill>
              <a:srgbClr val="D8DEEC"/>
            </a:solidFill>
            <a:prstDash val="solid"/>
            <a:round/>
            <a:headEnd len="sm" w="sm" type="none"/>
            <a:tailEnd len="sm" w="sm" type="none"/>
          </a:ln>
        </p:spPr>
      </p:cxnSp>
      <p:sp>
        <p:nvSpPr>
          <p:cNvPr id="136" name="Google Shape;136;p5"/>
          <p:cNvSpPr txBox="1"/>
          <p:nvPr/>
        </p:nvSpPr>
        <p:spPr>
          <a:xfrm>
            <a:off x="7498080" y="3657600"/>
            <a:ext cx="3794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FE"/>
              </a:buClr>
              <a:buSzPts val="4000"/>
              <a:buFont typeface="Cambria"/>
              <a:buNone/>
            </a:pPr>
            <a:r>
              <a:rPr b="1" i="0" lang="en-US" sz="4000" u="none" cap="none" strike="noStrike">
                <a:solidFill>
                  <a:srgbClr val="3D5AFE"/>
                </a:solidFill>
                <a:latin typeface="Cambria"/>
                <a:ea typeface="Cambria"/>
                <a:cs typeface="Cambria"/>
                <a:sym typeface="Cambria"/>
              </a:rPr>
              <a:t>1 phút</a:t>
            </a:r>
            <a:endParaRPr b="0" i="0" sz="4000" u="none" cap="none" strike="noStrike">
              <a:solidFill>
                <a:schemeClr val="dk1"/>
              </a:solidFill>
              <a:latin typeface="Calibri"/>
              <a:ea typeface="Calibri"/>
              <a:cs typeface="Calibri"/>
              <a:sym typeface="Calibri"/>
            </a:endParaRPr>
          </a:p>
        </p:txBody>
      </p:sp>
      <p:sp>
        <p:nvSpPr>
          <p:cNvPr id="137" name="Google Shape;137;p5"/>
          <p:cNvSpPr txBox="1"/>
          <p:nvPr/>
        </p:nvSpPr>
        <p:spPr>
          <a:xfrm>
            <a:off x="7498080" y="4416552"/>
            <a:ext cx="3794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8"/>
              </a:buClr>
              <a:buSzPts val="1150"/>
              <a:buFont typeface="Calibri"/>
              <a:buNone/>
            </a:pPr>
            <a:r>
              <a:rPr b="0" i="0" lang="en-US" sz="1150" u="none" cap="none" strike="noStrike">
                <a:solidFill>
                  <a:srgbClr val="5B6478"/>
                </a:solidFill>
                <a:latin typeface="Calibri"/>
                <a:ea typeface="Calibri"/>
                <a:cs typeface="Calibri"/>
                <a:sym typeface="Calibri"/>
              </a:rPr>
              <a:t>Sau khi tối ưu truy vấn</a:t>
            </a:r>
            <a:endParaRPr b="0" i="0" sz="1150" u="none" cap="none" strike="noStrike">
              <a:solidFill>
                <a:schemeClr val="dk1"/>
              </a:solidFill>
              <a:latin typeface="Calibri"/>
              <a:ea typeface="Calibri"/>
              <a:cs typeface="Calibri"/>
              <a:sym typeface="Calibri"/>
            </a:endParaRPr>
          </a:p>
        </p:txBody>
      </p:sp>
      <p:sp>
        <p:nvSpPr>
          <p:cNvPr id="138" name="Google Shape;138;p5"/>
          <p:cNvSpPr/>
          <p:nvPr/>
        </p:nvSpPr>
        <p:spPr>
          <a:xfrm>
            <a:off x="7498080" y="4892040"/>
            <a:ext cx="3794760" cy="548640"/>
          </a:xfrm>
          <a:prstGeom prst="roundRect">
            <a:avLst>
              <a:gd fmla="val 50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txBox="1"/>
          <p:nvPr/>
        </p:nvSpPr>
        <p:spPr>
          <a:xfrm>
            <a:off x="7498080" y="4892040"/>
            <a:ext cx="3794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Giảm 93% thời gian chờ</a:t>
            </a:r>
            <a:endParaRPr b="0" i="0" sz="1300" u="none" cap="none" strike="noStrike">
              <a:solidFill>
                <a:schemeClr val="dk1"/>
              </a:solidFill>
              <a:latin typeface="Calibri"/>
              <a:ea typeface="Calibri"/>
              <a:cs typeface="Calibri"/>
              <a:sym typeface="Calibri"/>
            </a:endParaRPr>
          </a:p>
        </p:txBody>
      </p:sp>
      <p:sp>
        <p:nvSpPr>
          <p:cNvPr id="140" name="Google Shape;140;p5"/>
          <p:cNvSpPr/>
          <p:nvPr/>
        </p:nvSpPr>
        <p:spPr>
          <a:xfrm>
            <a:off x="11486111" y="6446520"/>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lang="en-US" sz="1000">
                <a:solidFill>
                  <a:srgbClr val="5B6478"/>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48640" y="41148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2800"/>
              <a:buFont typeface="Cambria"/>
              <a:buNone/>
            </a:pPr>
            <a:r>
              <a:rPr b="1" i="0" lang="en-US" sz="2800" u="none" cap="none" strike="noStrike">
                <a:solidFill>
                  <a:srgbClr val="222833"/>
                </a:solidFill>
                <a:latin typeface="Cambria"/>
                <a:ea typeface="Cambria"/>
                <a:cs typeface="Cambria"/>
                <a:sym typeface="Cambria"/>
              </a:rPr>
              <a:t>Vì sao nền tảng dev giúp em làm BA tốt hơn</a:t>
            </a:r>
            <a:endParaRPr b="0" i="0" sz="2800" u="none" cap="none" strike="noStrike">
              <a:solidFill>
                <a:schemeClr val="dk1"/>
              </a:solidFill>
              <a:latin typeface="Calibri"/>
              <a:ea typeface="Calibri"/>
              <a:cs typeface="Calibri"/>
              <a:sym typeface="Calibri"/>
            </a:endParaRPr>
          </a:p>
        </p:txBody>
      </p:sp>
      <p:sp>
        <p:nvSpPr>
          <p:cNvPr id="147" name="Google Shape;147;p6"/>
          <p:cNvSpPr/>
          <p:nvPr/>
        </p:nvSpPr>
        <p:spPr>
          <a:xfrm>
            <a:off x="548640" y="1417320"/>
            <a:ext cx="11064240" cy="1234440"/>
          </a:xfrm>
          <a:prstGeom prst="roundRect">
            <a:avLst>
              <a:gd fmla="val 5926"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868680" y="1709928"/>
            <a:ext cx="640080" cy="64008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txBox="1"/>
          <p:nvPr/>
        </p:nvSpPr>
        <p:spPr>
          <a:xfrm>
            <a:off x="868680" y="170992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20"/>
              <a:buFont typeface="Calibri"/>
              <a:buNone/>
            </a:pPr>
            <a:r>
              <a:rPr b="1" i="0" lang="en-US" sz="1820" u="none" cap="none" strike="noStrike">
                <a:solidFill>
                  <a:srgbClr val="1E2761"/>
                </a:solidFill>
                <a:latin typeface="Calibri"/>
                <a:ea typeface="Calibri"/>
                <a:cs typeface="Calibri"/>
                <a:sym typeface="Calibri"/>
              </a:rPr>
              <a:t>🔍</a:t>
            </a:r>
            <a:endParaRPr b="0" i="0" sz="1820" u="none" cap="none" strike="noStrike">
              <a:solidFill>
                <a:schemeClr val="dk1"/>
              </a:solidFill>
              <a:latin typeface="Calibri"/>
              <a:ea typeface="Calibri"/>
              <a:cs typeface="Calibri"/>
              <a:sym typeface="Calibri"/>
            </a:endParaRPr>
          </a:p>
        </p:txBody>
      </p:sp>
      <p:sp>
        <p:nvSpPr>
          <p:cNvPr id="150" name="Google Shape;150;p6"/>
          <p:cNvSpPr txBox="1"/>
          <p:nvPr/>
        </p:nvSpPr>
        <p:spPr>
          <a:xfrm>
            <a:off x="1783080" y="1600200"/>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Yêu cầu thực tế, khả thi</a:t>
            </a:r>
            <a:endParaRPr b="0" i="0" sz="1500" u="none" cap="none" strike="noStrike">
              <a:solidFill>
                <a:schemeClr val="dk1"/>
              </a:solidFill>
              <a:latin typeface="Calibri"/>
              <a:ea typeface="Calibri"/>
              <a:cs typeface="Calibri"/>
              <a:sym typeface="Calibri"/>
            </a:endParaRPr>
          </a:p>
        </p:txBody>
      </p:sp>
      <p:sp>
        <p:nvSpPr>
          <p:cNvPr id="151" name="Google Shape;151;p6"/>
          <p:cNvSpPr txBox="1"/>
          <p:nvPr/>
        </p:nvSpPr>
        <p:spPr>
          <a:xfrm>
            <a:off x="1783080" y="1984248"/>
            <a:ext cx="950976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Hiểu hệ thống từ bên trong nên khi phân tích yêu cầu, có thể đánh giá ngay tính khả thi và ảnh hưởng </a:t>
            </a:r>
            <a:r>
              <a:rPr lang="en-US" sz="1250">
                <a:solidFill>
                  <a:srgbClr val="5B6478"/>
                </a:solidFill>
                <a:latin typeface="Calibri"/>
                <a:ea typeface="Calibri"/>
                <a:cs typeface="Calibri"/>
                <a:sym typeface="Calibri"/>
              </a:rPr>
              <a:t>có thể chủ động gợi ý giải pháp cho user</a:t>
            </a:r>
            <a:r>
              <a:rPr b="0" i="0" lang="en-US" sz="1250" u="none" cap="none" strike="noStrike">
                <a:solidFill>
                  <a:srgbClr val="5B6478"/>
                </a:solidFill>
                <a:latin typeface="Calibri"/>
                <a:ea typeface="Calibri"/>
                <a:cs typeface="Calibri"/>
                <a:sym typeface="Calibri"/>
              </a:rPr>
              <a:t>.</a:t>
            </a:r>
            <a:endParaRPr b="0" i="0" sz="1250" u="none" cap="none" strike="noStrike">
              <a:solidFill>
                <a:schemeClr val="dk1"/>
              </a:solidFill>
              <a:latin typeface="Calibri"/>
              <a:ea typeface="Calibri"/>
              <a:cs typeface="Calibri"/>
              <a:sym typeface="Calibri"/>
            </a:endParaRPr>
          </a:p>
        </p:txBody>
      </p:sp>
      <p:sp>
        <p:nvSpPr>
          <p:cNvPr id="152" name="Google Shape;152;p6"/>
          <p:cNvSpPr/>
          <p:nvPr/>
        </p:nvSpPr>
        <p:spPr>
          <a:xfrm>
            <a:off x="548640" y="2834640"/>
            <a:ext cx="11064240" cy="1234440"/>
          </a:xfrm>
          <a:prstGeom prst="roundRect">
            <a:avLst>
              <a:gd fmla="val 5926"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868680" y="3127248"/>
            <a:ext cx="640080" cy="64008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txBox="1"/>
          <p:nvPr/>
        </p:nvSpPr>
        <p:spPr>
          <a:xfrm>
            <a:off x="868680" y="312724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20"/>
              <a:buFont typeface="Calibri"/>
              <a:buNone/>
            </a:pPr>
            <a:r>
              <a:rPr b="1" i="0" lang="en-US" sz="1820" u="none" cap="none" strike="noStrike">
                <a:solidFill>
                  <a:srgbClr val="1E2761"/>
                </a:solidFill>
                <a:latin typeface="Calibri"/>
                <a:ea typeface="Calibri"/>
                <a:cs typeface="Calibri"/>
                <a:sym typeface="Calibri"/>
              </a:rPr>
              <a:t>🗣</a:t>
            </a:r>
            <a:endParaRPr b="0" i="0" sz="1820" u="none" cap="none" strike="noStrike">
              <a:solidFill>
                <a:schemeClr val="dk1"/>
              </a:solidFill>
              <a:latin typeface="Calibri"/>
              <a:ea typeface="Calibri"/>
              <a:cs typeface="Calibri"/>
              <a:sym typeface="Calibri"/>
            </a:endParaRPr>
          </a:p>
        </p:txBody>
      </p:sp>
      <p:sp>
        <p:nvSpPr>
          <p:cNvPr id="155" name="Google Shape;155;p6"/>
          <p:cNvSpPr txBox="1"/>
          <p:nvPr/>
        </p:nvSpPr>
        <p:spPr>
          <a:xfrm>
            <a:off x="1783080" y="3017520"/>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Cầu nối nghiệp vụ – kỹ thuật</a:t>
            </a:r>
            <a:endParaRPr b="0" i="0" sz="1500" u="none" cap="none" strike="noStrike">
              <a:solidFill>
                <a:schemeClr val="dk1"/>
              </a:solidFill>
              <a:latin typeface="Calibri"/>
              <a:ea typeface="Calibri"/>
              <a:cs typeface="Calibri"/>
              <a:sym typeface="Calibri"/>
            </a:endParaRPr>
          </a:p>
        </p:txBody>
      </p:sp>
      <p:sp>
        <p:nvSpPr>
          <p:cNvPr id="156" name="Google Shape;156;p6"/>
          <p:cNvSpPr txBox="1"/>
          <p:nvPr/>
        </p:nvSpPr>
        <p:spPr>
          <a:xfrm>
            <a:off x="1783080" y="3401568"/>
            <a:ext cx="950976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4 năm giao tiếp trực tiếp với user, quen "dịch" ngôn ngữ nghiệp vụ sang kỹ thuật và ngược lại.</a:t>
            </a:r>
            <a:endParaRPr b="0" i="0" sz="1250" u="none" cap="none" strike="noStrike">
              <a:solidFill>
                <a:schemeClr val="dk1"/>
              </a:solidFill>
              <a:latin typeface="Calibri"/>
              <a:ea typeface="Calibri"/>
              <a:cs typeface="Calibri"/>
              <a:sym typeface="Calibri"/>
            </a:endParaRPr>
          </a:p>
        </p:txBody>
      </p:sp>
      <p:sp>
        <p:nvSpPr>
          <p:cNvPr id="157" name="Google Shape;157;p6"/>
          <p:cNvSpPr/>
          <p:nvPr/>
        </p:nvSpPr>
        <p:spPr>
          <a:xfrm>
            <a:off x="548640" y="4251960"/>
            <a:ext cx="11064240" cy="1234440"/>
          </a:xfrm>
          <a:prstGeom prst="roundRect">
            <a:avLst>
              <a:gd fmla="val 5926" name="adj"/>
            </a:avLst>
          </a:prstGeom>
          <a:solidFill>
            <a:srgbClr val="F4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868680" y="4544568"/>
            <a:ext cx="640080" cy="640080"/>
          </a:xfrm>
          <a:prstGeom prst="ellipse">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txBox="1"/>
          <p:nvPr/>
        </p:nvSpPr>
        <p:spPr>
          <a:xfrm>
            <a:off x="868680" y="45445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20"/>
              <a:buFont typeface="Calibri"/>
              <a:buNone/>
            </a:pPr>
            <a:r>
              <a:rPr b="1" i="0" lang="en-US" sz="1820" u="none" cap="none" strike="noStrike">
                <a:solidFill>
                  <a:srgbClr val="1E2761"/>
                </a:solidFill>
                <a:latin typeface="Calibri"/>
                <a:ea typeface="Calibri"/>
                <a:cs typeface="Calibri"/>
                <a:sym typeface="Calibri"/>
              </a:rPr>
              <a:t>🧠</a:t>
            </a:r>
            <a:endParaRPr b="0" i="0" sz="1820" u="none" cap="none" strike="noStrike">
              <a:solidFill>
                <a:schemeClr val="dk1"/>
              </a:solidFill>
              <a:latin typeface="Calibri"/>
              <a:ea typeface="Calibri"/>
              <a:cs typeface="Calibri"/>
              <a:sym typeface="Calibri"/>
            </a:endParaRPr>
          </a:p>
        </p:txBody>
      </p:sp>
      <p:sp>
        <p:nvSpPr>
          <p:cNvPr id="160" name="Google Shape;160;p6"/>
          <p:cNvSpPr txBox="1"/>
          <p:nvPr/>
        </p:nvSpPr>
        <p:spPr>
          <a:xfrm>
            <a:off x="1783080" y="4434840"/>
            <a:ext cx="9509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833"/>
              </a:buClr>
              <a:buSzPts val="1500"/>
              <a:buFont typeface="Calibri"/>
              <a:buNone/>
            </a:pPr>
            <a:r>
              <a:rPr b="1" i="0" lang="en-US" sz="1500" u="none" cap="none" strike="noStrike">
                <a:solidFill>
                  <a:srgbClr val="222833"/>
                </a:solidFill>
                <a:latin typeface="Calibri"/>
                <a:ea typeface="Calibri"/>
                <a:cs typeface="Calibri"/>
                <a:sym typeface="Calibri"/>
              </a:rPr>
              <a:t>Quen phân tích rủi ro trước khi đổi</a:t>
            </a:r>
            <a:endParaRPr b="0" i="0" sz="1500" u="none" cap="none" strike="noStrike">
              <a:solidFill>
                <a:schemeClr val="dk1"/>
              </a:solidFill>
              <a:latin typeface="Calibri"/>
              <a:ea typeface="Calibri"/>
              <a:cs typeface="Calibri"/>
              <a:sym typeface="Calibri"/>
            </a:endParaRPr>
          </a:p>
        </p:txBody>
      </p:sp>
      <p:sp>
        <p:nvSpPr>
          <p:cNvPr id="161" name="Google Shape;161;p6"/>
          <p:cNvSpPr txBox="1"/>
          <p:nvPr/>
        </p:nvSpPr>
        <p:spPr>
          <a:xfrm>
            <a:off x="1783080" y="4818888"/>
            <a:ext cx="950976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8"/>
              </a:buClr>
              <a:buSzPts val="1250"/>
              <a:buFont typeface="Calibri"/>
              <a:buNone/>
            </a:pPr>
            <a:r>
              <a:rPr b="0" i="0" lang="en-US" sz="1250" u="none" cap="none" strike="noStrike">
                <a:solidFill>
                  <a:srgbClr val="5B6478"/>
                </a:solidFill>
                <a:latin typeface="Calibri"/>
                <a:ea typeface="Calibri"/>
                <a:cs typeface="Calibri"/>
                <a:sym typeface="Calibri"/>
              </a:rPr>
              <a:t>Làm việc lâu năm trên hệ thống legacy phức tạp, quen đánh giá tác động trước khi triển khai thay đổi.</a:t>
            </a:r>
            <a:endParaRPr b="0" i="0" sz="1250" u="none" cap="none" strike="noStrike">
              <a:solidFill>
                <a:schemeClr val="dk1"/>
              </a:solidFill>
              <a:latin typeface="Calibri"/>
              <a:ea typeface="Calibri"/>
              <a:cs typeface="Calibri"/>
              <a:sym typeface="Calibri"/>
            </a:endParaRPr>
          </a:p>
        </p:txBody>
      </p:sp>
      <p:sp>
        <p:nvSpPr>
          <p:cNvPr id="162" name="Google Shape;162;p6"/>
          <p:cNvSpPr/>
          <p:nvPr/>
        </p:nvSpPr>
        <p:spPr>
          <a:xfrm>
            <a:off x="11475720" y="644652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lang="en-US" sz="1000">
                <a:solidFill>
                  <a:srgbClr val="5B6478"/>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7" name="Shape 167"/>
        <p:cNvGrpSpPr/>
        <p:nvPr/>
      </p:nvGrpSpPr>
      <p:grpSpPr>
        <a:xfrm>
          <a:off x="0" y="0"/>
          <a:ext cx="0" cy="0"/>
          <a:chOff x="0" y="0"/>
          <a:chExt cx="0" cy="0"/>
        </a:xfrm>
      </p:grpSpPr>
      <p:sp>
        <p:nvSpPr>
          <p:cNvPr id="168" name="Google Shape;168;p7"/>
          <p:cNvSpPr/>
          <p:nvPr/>
        </p:nvSpPr>
        <p:spPr>
          <a:xfrm>
            <a:off x="-1371600" y="3840480"/>
            <a:ext cx="4572000" cy="4572000"/>
          </a:xfrm>
          <a:prstGeom prst="ellipse">
            <a:avLst/>
          </a:prstGeom>
          <a:solidFill>
            <a:srgbClr val="2631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txBox="1"/>
          <p:nvPr/>
        </p:nvSpPr>
        <p:spPr>
          <a:xfrm>
            <a:off x="731520" y="640080"/>
            <a:ext cx="9144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Định hướng phát triển</a:t>
            </a:r>
            <a:endParaRPr b="0" i="0" sz="2800" u="none" cap="none" strike="noStrike">
              <a:solidFill>
                <a:schemeClr val="dk1"/>
              </a:solidFill>
              <a:latin typeface="Calibri"/>
              <a:ea typeface="Calibri"/>
              <a:cs typeface="Calibri"/>
              <a:sym typeface="Calibri"/>
            </a:endParaRPr>
          </a:p>
        </p:txBody>
      </p:sp>
      <p:sp>
        <p:nvSpPr>
          <p:cNvPr id="170" name="Google Shape;170;p7"/>
          <p:cNvSpPr/>
          <p:nvPr/>
        </p:nvSpPr>
        <p:spPr>
          <a:xfrm>
            <a:off x="777240" y="1572768"/>
            <a:ext cx="109728" cy="109728"/>
          </a:xfrm>
          <a:prstGeom prst="ellipse">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txBox="1"/>
          <p:nvPr/>
        </p:nvSpPr>
        <p:spPr>
          <a:xfrm>
            <a:off x="1097280" y="1371600"/>
            <a:ext cx="960120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Đang chủ động học và áp dụng quy trình BA vào công việc thực tế.</a:t>
            </a:r>
            <a:endParaRPr b="0" i="0" sz="1500" u="none" cap="none" strike="noStrike">
              <a:solidFill>
                <a:schemeClr val="dk1"/>
              </a:solidFill>
              <a:latin typeface="Calibri"/>
              <a:ea typeface="Calibri"/>
              <a:cs typeface="Calibri"/>
              <a:sym typeface="Calibri"/>
            </a:endParaRPr>
          </a:p>
        </p:txBody>
      </p:sp>
      <p:sp>
        <p:nvSpPr>
          <p:cNvPr id="172" name="Google Shape;172;p7"/>
          <p:cNvSpPr/>
          <p:nvPr/>
        </p:nvSpPr>
        <p:spPr>
          <a:xfrm>
            <a:off x="777240" y="2258568"/>
            <a:ext cx="109728" cy="109728"/>
          </a:xfrm>
          <a:prstGeom prst="ellipse">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txBox="1"/>
          <p:nvPr/>
        </p:nvSpPr>
        <p:spPr>
          <a:xfrm>
            <a:off x="1097280" y="2057400"/>
            <a:ext cx="960120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Mong muốn phát triển chuyên sâu về phân tích nghiệp vụ, chuẩn hóa tài liệu (BRD/FSD).</a:t>
            </a:r>
            <a:endParaRPr b="0" i="0" sz="1500" u="none" cap="none" strike="noStrike">
              <a:solidFill>
                <a:schemeClr val="dk1"/>
              </a:solidFill>
              <a:latin typeface="Calibri"/>
              <a:ea typeface="Calibri"/>
              <a:cs typeface="Calibri"/>
              <a:sym typeface="Calibri"/>
            </a:endParaRPr>
          </a:p>
        </p:txBody>
      </p:sp>
      <p:sp>
        <p:nvSpPr>
          <p:cNvPr id="174" name="Google Shape;174;p7"/>
          <p:cNvSpPr/>
          <p:nvPr/>
        </p:nvSpPr>
        <p:spPr>
          <a:xfrm>
            <a:off x="777240" y="2944368"/>
            <a:ext cx="109728" cy="109728"/>
          </a:xfrm>
          <a:prstGeom prst="ellipse">
            <a:avLst/>
          </a:prstGeom>
          <a:solidFill>
            <a:srgbClr val="3D5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txBox="1"/>
          <p:nvPr/>
        </p:nvSpPr>
        <p:spPr>
          <a:xfrm>
            <a:off x="1097280" y="2743200"/>
            <a:ext cx="960120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Sẵn sàng học công cụ và phương pháp mới (Figma, quy trình đặc tả chuẩn của C.P Việt Nam).</a:t>
            </a:r>
            <a:endParaRPr b="0" i="0" sz="1500" u="none" cap="none" strike="noStrike">
              <a:solidFill>
                <a:schemeClr val="dk1"/>
              </a:solidFill>
              <a:latin typeface="Calibri"/>
              <a:ea typeface="Calibri"/>
              <a:cs typeface="Calibri"/>
              <a:sym typeface="Calibri"/>
            </a:endParaRPr>
          </a:p>
        </p:txBody>
      </p:sp>
      <p:cxnSp>
        <p:nvCxnSpPr>
          <p:cNvPr id="176" name="Google Shape;176;p7"/>
          <p:cNvCxnSpPr/>
          <p:nvPr/>
        </p:nvCxnSpPr>
        <p:spPr>
          <a:xfrm>
            <a:off x="731520" y="4206240"/>
            <a:ext cx="10607040" cy="0"/>
          </a:xfrm>
          <a:prstGeom prst="straightConnector1">
            <a:avLst/>
          </a:prstGeom>
          <a:noFill/>
          <a:ln cap="flat" cmpd="sng" w="12700">
            <a:solidFill>
              <a:srgbClr val="3A4590"/>
            </a:solidFill>
            <a:prstDash val="solid"/>
            <a:round/>
            <a:headEnd len="sm" w="sm" type="none"/>
            <a:tailEnd len="sm" w="sm" type="none"/>
          </a:ln>
        </p:spPr>
      </p:cxnSp>
      <p:sp>
        <p:nvSpPr>
          <p:cNvPr id="177" name="Google Shape;177;p7"/>
          <p:cNvSpPr txBox="1"/>
          <p:nvPr/>
        </p:nvSpPr>
        <p:spPr>
          <a:xfrm>
            <a:off x="731520" y="4572000"/>
            <a:ext cx="10058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Cảm ơn anh/chị đã dành thời gian.</a:t>
            </a:r>
            <a:endParaRPr b="0" i="0" sz="2400" u="none" cap="none" strike="noStrike">
              <a:solidFill>
                <a:schemeClr val="dk1"/>
              </a:solidFill>
              <a:latin typeface="Calibri"/>
              <a:ea typeface="Calibri"/>
              <a:cs typeface="Calibri"/>
              <a:sym typeface="Calibri"/>
            </a:endParaRPr>
          </a:p>
        </p:txBody>
      </p:sp>
      <p:sp>
        <p:nvSpPr>
          <p:cNvPr id="178" name="Google Shape;178;p7"/>
          <p:cNvSpPr txBox="1"/>
          <p:nvPr/>
        </p:nvSpPr>
        <p:spPr>
          <a:xfrm>
            <a:off x="731520" y="516636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Nguyễn Minh Hiếu  ·  </a:t>
            </a:r>
            <a:r>
              <a:rPr lang="en-US" sz="1300">
                <a:solidFill>
                  <a:srgbClr val="CADCFC"/>
                </a:solidFill>
                <a:latin typeface="Calibri"/>
                <a:ea typeface="Calibri"/>
                <a:cs typeface="Calibri"/>
                <a:sym typeface="Calibri"/>
              </a:rPr>
              <a:t>0399943284</a:t>
            </a:r>
            <a:r>
              <a:rPr b="0" i="0" lang="en-US" sz="1300" u="none" cap="none" strike="noStrike">
                <a:solidFill>
                  <a:srgbClr val="CADCFC"/>
                </a:solidFill>
                <a:latin typeface="Calibri"/>
                <a:ea typeface="Calibri"/>
                <a:cs typeface="Calibri"/>
                <a:sym typeface="Calibri"/>
              </a:rPr>
              <a:t>  ·  </a:t>
            </a:r>
            <a:r>
              <a:rPr lang="en-US" sz="1300">
                <a:solidFill>
                  <a:srgbClr val="CADCFC"/>
                </a:solidFill>
                <a:latin typeface="Calibri"/>
                <a:ea typeface="Calibri"/>
                <a:cs typeface="Calibri"/>
                <a:sym typeface="Calibri"/>
              </a:rPr>
              <a:t>nguyenminhhieu12234@gmail.com</a:t>
            </a:r>
            <a:endParaRPr b="0" i="0" sz="1300" u="none" cap="none" strike="noStrike">
              <a:solidFill>
                <a:schemeClr val="dk1"/>
              </a:solidFill>
              <a:latin typeface="Calibri"/>
              <a:ea typeface="Calibri"/>
              <a:cs typeface="Calibri"/>
              <a:sym typeface="Calibri"/>
            </a:endParaRPr>
          </a:p>
        </p:txBody>
      </p:sp>
      <p:sp>
        <p:nvSpPr>
          <p:cNvPr id="179" name="Google Shape;179;p7"/>
          <p:cNvSpPr/>
          <p:nvPr/>
        </p:nvSpPr>
        <p:spPr>
          <a:xfrm>
            <a:off x="11475720" y="644652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478"/>
              </a:buClr>
              <a:buSzPts val="1000"/>
              <a:buFont typeface="Calibri"/>
              <a:buNone/>
            </a:pPr>
            <a:r>
              <a:rPr b="0" i="0" lang="en-US" sz="1000" u="none" cap="none" strike="noStrike">
                <a:solidFill>
                  <a:srgbClr val="5B6478"/>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2026-09-09T00:04:06Z</dcterms:created>
  <dc:creator>PptxGenJS</dc:creator>
</cp:coreProperties>
</file>